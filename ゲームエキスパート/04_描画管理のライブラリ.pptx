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4" r:id="rId2"/>
    <p:sldId id="263" r:id="rId3"/>
    <p:sldId id="424" r:id="rId4"/>
    <p:sldId id="517" r:id="rId5"/>
    <p:sldId id="511" r:id="rId6"/>
    <p:sldId id="518" r:id="rId7"/>
    <p:sldId id="519" r:id="rId8"/>
    <p:sldId id="520" r:id="rId9"/>
    <p:sldId id="521" r:id="rId10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CC"/>
    <a:srgbClr val="0000FF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88" d="100"/>
          <a:sy n="88" d="100"/>
        </p:scale>
        <p:origin x="6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2023/11/15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363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90218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04747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0320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8152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256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描画管理用ライブラリを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4</a:t>
            </a:r>
            <a:r>
              <a:rPr lang="ja-JP" altLang="en-US" sz="4000" dirty="0"/>
              <a:t>　描画管理のライブラリ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[2D</a:t>
            </a:r>
            <a:r>
              <a:rPr lang="ja-JP" altLang="en-US" sz="2250" b="1" dirty="0"/>
              <a:t>描画のクラス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1988840"/>
            <a:ext cx="806489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400" b="1" dirty="0"/>
              <a:t>2D</a:t>
            </a:r>
            <a:r>
              <a:rPr lang="ja-JP" altLang="en-US" sz="2400" b="1" dirty="0"/>
              <a:t>の画像描画が簡単に出来るようなクラスを作ると</a:t>
            </a:r>
            <a:br>
              <a:rPr lang="en-US" altLang="ja-JP" sz="2400" b="1" dirty="0"/>
            </a:br>
            <a:r>
              <a:rPr lang="ja-JP" altLang="en-US" sz="2400" b="1" dirty="0"/>
              <a:t>ゲーム中の</a:t>
            </a:r>
            <a:r>
              <a:rPr lang="en-US" altLang="ja-JP" sz="2400" b="1" dirty="0"/>
              <a:t>UI</a:t>
            </a:r>
            <a:r>
              <a:rPr lang="ja-JP" altLang="en-US" sz="2400" b="1" dirty="0"/>
              <a:t>や</a:t>
            </a:r>
            <a:r>
              <a:rPr lang="en-US" altLang="ja-JP" sz="2400" b="1" dirty="0"/>
              <a:t>2D</a:t>
            </a:r>
            <a:r>
              <a:rPr lang="ja-JP" altLang="en-US" sz="2400" b="1" dirty="0"/>
              <a:t>ゲームの画像表示が楽になる。</a:t>
            </a:r>
            <a:br>
              <a:rPr lang="en-US" altLang="ja-JP" sz="2400" b="1" dirty="0"/>
            </a:br>
            <a:r>
              <a:rPr lang="ja-JP" altLang="en-US" sz="2400" b="1" dirty="0"/>
              <a:t>最も基本的なところとしては</a:t>
            </a:r>
            <a:endParaRPr lang="en-US" altLang="ja-JP" sz="2400" b="1" dirty="0"/>
          </a:p>
          <a:p>
            <a:pPr algn="ctr" eaLnBrk="1" hangingPunct="1">
              <a:spcBef>
                <a:spcPct val="50000"/>
              </a:spcBef>
              <a:defRPr/>
            </a:pPr>
            <a:endParaRPr lang="en-US" altLang="ja-JP" sz="24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①メンバ変数に画像ハンドルをセット</a:t>
            </a:r>
            <a:br>
              <a:rPr lang="en-US" altLang="ja-JP" sz="2400" b="1" dirty="0"/>
            </a:br>
            <a:r>
              <a:rPr lang="en-US" altLang="ja-JP" sz="2400" b="1" dirty="0"/>
              <a:t>or</a:t>
            </a:r>
            <a:br>
              <a:rPr lang="en-US" altLang="ja-JP" sz="2400" b="1" dirty="0"/>
            </a:br>
            <a:r>
              <a:rPr lang="ja-JP" altLang="en-US" sz="2400" b="1" dirty="0"/>
              <a:t>指定されたパスの画像をロード</a:t>
            </a:r>
            <a:br>
              <a:rPr lang="en-US" altLang="ja-JP" sz="2400" b="1" dirty="0"/>
            </a:br>
            <a:br>
              <a:rPr lang="en-US" altLang="ja-JP" sz="2400" b="1" dirty="0"/>
            </a:br>
            <a:r>
              <a:rPr lang="ja-JP" altLang="en-US" sz="2400" b="1" dirty="0"/>
              <a:t>②メンバ変数にセットされた座標に表示</a:t>
            </a:r>
            <a:endParaRPr lang="en-US" altLang="ja-JP" sz="24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は必須の機能。</a:t>
            </a:r>
            <a:endParaRPr lang="en-US" altLang="ja-JP" sz="2400" b="1" dirty="0"/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095F8CBA-6105-4C11-A272-DB46ACB1373F}"/>
              </a:ext>
            </a:extLst>
          </p:cNvPr>
          <p:cNvSpPr/>
          <p:nvPr/>
        </p:nvSpPr>
        <p:spPr>
          <a:xfrm>
            <a:off x="4139952" y="4973386"/>
            <a:ext cx="936104" cy="3621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827584" y="836712"/>
            <a:ext cx="5472608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これだけだと、あまりライブラリ化する意味は</a:t>
            </a:r>
            <a:br>
              <a:rPr lang="en-US" altLang="ja-JP" sz="2000" b="1" dirty="0"/>
            </a:br>
            <a:r>
              <a:rPr lang="ja-JP" altLang="en-US" sz="2000" b="1" dirty="0"/>
              <a:t>なさそうな気がする。</a:t>
            </a:r>
            <a:br>
              <a:rPr lang="en-US" altLang="ja-JP" sz="2000" b="1" dirty="0"/>
            </a:br>
            <a:r>
              <a:rPr lang="ja-JP" altLang="en-US" sz="2000" b="1" dirty="0"/>
              <a:t>他にはどんな機能があると便利かな？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24F9713-5B69-43DC-A6B5-094A4B6E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708920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・拡大縮小率、回転率の変更</a:t>
            </a:r>
            <a:br>
              <a:rPr lang="en-US" altLang="ja-JP" sz="2400" b="1" dirty="0"/>
            </a:br>
            <a:r>
              <a:rPr lang="ja-JP" altLang="en-US" sz="2400" b="1" dirty="0"/>
              <a:t>・複数枚の画像ハンドルの管理</a:t>
            </a:r>
            <a:r>
              <a:rPr lang="en-US" altLang="ja-JP" sz="2400" b="1" dirty="0"/>
              <a:t>(</a:t>
            </a:r>
            <a:r>
              <a:rPr lang="ja-JP" altLang="en-US" sz="2400" b="1" dirty="0"/>
              <a:t>アニメーション用</a:t>
            </a:r>
            <a:r>
              <a:rPr lang="en-US" altLang="ja-JP" sz="2400" b="1" dirty="0"/>
              <a:t>)</a:t>
            </a:r>
            <a:br>
              <a:rPr lang="en-US" altLang="ja-JP" sz="2400" b="1" dirty="0"/>
            </a:br>
            <a:r>
              <a:rPr lang="ja-JP" altLang="en-US" sz="2400" b="1" dirty="0"/>
              <a:t>・自動アニメーション再生</a:t>
            </a:r>
            <a:br>
              <a:rPr lang="en-US" altLang="ja-JP" sz="2400" b="1" dirty="0"/>
            </a:br>
            <a:r>
              <a:rPr lang="ja-JP" altLang="en-US" sz="2400" b="1" dirty="0"/>
              <a:t>・半透明処理</a:t>
            </a:r>
            <a:endParaRPr lang="en-US" altLang="ja-JP" sz="2400" b="1" dirty="0"/>
          </a:p>
        </p:txBody>
      </p:sp>
      <p:pic>
        <p:nvPicPr>
          <p:cNvPr id="1026" name="Picture 2" descr="おばさんの表情のイラスト「疑問」">
            <a:extLst>
              <a:ext uri="{FF2B5EF4-FFF2-40B4-BE49-F238E27FC236}">
                <a16:creationId xmlns:a16="http://schemas.microsoft.com/office/drawing/2014/main" id="{46E1AC8F-2A8A-415C-B14A-7DF0B2D4B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48680"/>
            <a:ext cx="1438735" cy="164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EC91EBEC-76C1-4F86-BBE9-701444820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869160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上記のような処理が入っていると便利</a:t>
            </a:r>
            <a:r>
              <a:rPr lang="en-US" altLang="ja-JP" sz="2400" b="1" dirty="0"/>
              <a:t>(</a:t>
            </a:r>
            <a:r>
              <a:rPr lang="ja-JP" altLang="en-US" sz="2400" b="1" dirty="0"/>
              <a:t>かもしれない</a:t>
            </a:r>
            <a:r>
              <a:rPr lang="en-US" altLang="ja-JP" sz="2400" b="1" dirty="0"/>
              <a:t>)</a:t>
            </a:r>
            <a:r>
              <a:rPr lang="ja-JP" altLang="en-US" sz="2400" b="1" dirty="0" err="1"/>
              <a:t>。</a:t>
            </a:r>
            <a:br>
              <a:rPr lang="en-US" altLang="ja-JP" sz="2400" b="1" dirty="0"/>
            </a:br>
            <a:r>
              <a:rPr lang="ja-JP" altLang="en-US" sz="2400" b="1" dirty="0"/>
              <a:t>可能な限り</a:t>
            </a:r>
            <a:r>
              <a:rPr lang="ja-JP" altLang="en-US" sz="2400" b="1" dirty="0">
                <a:solidFill>
                  <a:srgbClr val="FF0000"/>
                </a:solidFill>
              </a:rPr>
              <a:t>最小限のプログラム</a:t>
            </a:r>
            <a:r>
              <a:rPr lang="ja-JP" altLang="en-US" sz="2400" b="1" dirty="0"/>
              <a:t>で描画されることが望ましい。</a:t>
            </a:r>
            <a:br>
              <a:rPr lang="en-US" altLang="ja-JP" sz="2400" b="1" dirty="0"/>
            </a:br>
            <a:r>
              <a:rPr lang="ja-JP" altLang="en-US" sz="2400" b="1" dirty="0"/>
              <a:t>が、</a:t>
            </a:r>
            <a:r>
              <a:rPr lang="ja-JP" altLang="en-US" sz="2400" b="1" dirty="0">
                <a:solidFill>
                  <a:srgbClr val="0070C0"/>
                </a:solidFill>
              </a:rPr>
              <a:t>アニメーション再生を入れる場合は毎フレーム更新する</a:t>
            </a:r>
            <a:br>
              <a:rPr lang="en-US" altLang="ja-JP" sz="2400" b="1" dirty="0">
                <a:solidFill>
                  <a:srgbClr val="0070C0"/>
                </a:solidFill>
              </a:rPr>
            </a:br>
            <a:r>
              <a:rPr lang="ja-JP" altLang="en-US" sz="2400" b="1" dirty="0">
                <a:solidFill>
                  <a:srgbClr val="0070C0"/>
                </a:solidFill>
              </a:rPr>
              <a:t>メソッドは必須</a:t>
            </a:r>
            <a:r>
              <a:rPr lang="ja-JP" altLang="en-US" sz="2400" b="1" dirty="0"/>
              <a:t>となる。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[3D</a:t>
            </a:r>
            <a:r>
              <a:rPr lang="ja-JP" altLang="en-US" sz="2250" b="1" dirty="0"/>
              <a:t>モデル描画クラス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1916832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0" b="1" dirty="0"/>
              <a:t>3D</a:t>
            </a:r>
            <a:r>
              <a:rPr lang="ja-JP" altLang="en-US" sz="2260" b="1" dirty="0"/>
              <a:t>モデルの場合も</a:t>
            </a:r>
            <a:r>
              <a:rPr lang="en-US" altLang="ja-JP" sz="2260" b="1" dirty="0"/>
              <a:t>2D</a:t>
            </a:r>
            <a:r>
              <a:rPr lang="ja-JP" altLang="en-US" sz="2260" b="1" dirty="0"/>
              <a:t>画像と同じような処理を作成すれば</a:t>
            </a:r>
            <a:br>
              <a:rPr lang="en-US" altLang="ja-JP" sz="2260" b="1" dirty="0"/>
            </a:br>
            <a:r>
              <a:rPr lang="ja-JP" altLang="en-US" sz="2260" b="1" dirty="0"/>
              <a:t>それなりに便利なクラスが出来上がる。</a:t>
            </a:r>
            <a:br>
              <a:rPr lang="en-US" altLang="ja-JP" sz="2260" b="1" dirty="0"/>
            </a:br>
            <a:r>
              <a:rPr lang="ja-JP" altLang="en-US" sz="2260" b="1" dirty="0"/>
              <a:t>ただし、アニメーションは別クラスで作るパターンも存在する。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755576" y="1125465"/>
            <a:ext cx="4094143" cy="531935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3D</a:t>
            </a:r>
            <a:r>
              <a:rPr lang="ja-JP" altLang="en-US" sz="2000" b="1" dirty="0"/>
              <a:t>モデルも大体同じかな？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B4FB475-8B9B-4275-BF5B-5BF97903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4005064"/>
            <a:ext cx="837791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UnrealEngine</a:t>
            </a:r>
            <a:r>
              <a:rPr lang="ja-JP" altLang="en-US" sz="2263" b="1" dirty="0"/>
              <a:t>のコンポーネントに近い作り方。</a:t>
            </a:r>
            <a:br>
              <a:rPr lang="en-US" altLang="ja-JP" sz="2263" b="1" dirty="0"/>
            </a:br>
            <a:r>
              <a:rPr lang="ja-JP" altLang="en-US" sz="2263" b="1" dirty="0"/>
              <a:t>元のクラスにつけるだけなのでカスタマイズしやすい。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F53BF86-77EF-473C-A252-D91C14AC5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835" y="3429000"/>
            <a:ext cx="6449344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パターン①　アニメーションクラスを作り、持たせる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BE49AB0-E28B-4001-AE8B-272E5DC06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835" y="5085184"/>
            <a:ext cx="6449344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パターン②　クラスを継承して、アクタークラスを作る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38650170-EBB3-4C9F-A5BE-447219C3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5592522"/>
            <a:ext cx="837791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授業でやった作り方。</a:t>
            </a:r>
            <a:br>
              <a:rPr lang="en-US" altLang="ja-JP" sz="2263" b="1" dirty="0"/>
            </a:br>
            <a:r>
              <a:rPr lang="ja-JP" altLang="en-US" sz="2263" b="1" dirty="0"/>
              <a:t>定型になっているので、複雑化しにくい。</a:t>
            </a:r>
          </a:p>
        </p:txBody>
      </p:sp>
    </p:spTree>
    <p:extLst>
      <p:ext uri="{BB962C8B-B14F-4D97-AF65-F5344CB8AC3E}">
        <p14:creationId xmlns:p14="http://schemas.microsoft.com/office/powerpoint/2010/main" val="45716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060848"/>
            <a:ext cx="7704856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UnrealEngine</a:t>
            </a:r>
            <a:r>
              <a:rPr lang="ja-JP" altLang="en-US" sz="2263" b="1" dirty="0"/>
              <a:t>ではコンポーネントの情報を受け取る</a:t>
            </a:r>
            <a:br>
              <a:rPr lang="en-US" altLang="ja-JP" sz="2263" b="1" dirty="0"/>
            </a:br>
            <a:r>
              <a:rPr lang="ja-JP" altLang="en-US" sz="2263" b="1" dirty="0"/>
              <a:t>抜け道が用意されているが、今回のアニメーションは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66CC"/>
                </a:solidFill>
              </a:rPr>
              <a:t>他クラスからアニメーションクラス内の情報を必要とする</a:t>
            </a:r>
            <a:br>
              <a:rPr lang="en-US" altLang="ja-JP" sz="2263" b="1" dirty="0">
                <a:solidFill>
                  <a:srgbClr val="FF66CC"/>
                </a:solidFill>
              </a:rPr>
            </a:br>
            <a:r>
              <a:rPr lang="ja-JP" altLang="en-US" sz="2263" b="1" dirty="0">
                <a:solidFill>
                  <a:srgbClr val="FF66CC"/>
                </a:solidFill>
              </a:rPr>
              <a:t>状況は少ない</a:t>
            </a:r>
            <a:r>
              <a:rPr lang="ja-JP" altLang="en-US" sz="2263" b="1" dirty="0"/>
              <a:t>ので大きな問題はない。</a:t>
            </a:r>
            <a:br>
              <a:rPr lang="en-US" altLang="ja-JP" sz="2263" b="1" dirty="0"/>
            </a:br>
            <a:r>
              <a:rPr lang="ja-JP" altLang="en-US" sz="2263" b="1" dirty="0"/>
              <a:t>外部とのやり取りがあまり無いものはパターン①でも</a:t>
            </a:r>
            <a:r>
              <a:rPr lang="en-US" altLang="ja-JP" sz="2263" b="1" dirty="0"/>
              <a:t>OK</a:t>
            </a:r>
            <a:r>
              <a:rPr lang="ja-JP" altLang="en-US" sz="2263" b="1" dirty="0" err="1"/>
              <a:t>。</a:t>
            </a:r>
            <a:endParaRPr lang="ja-JP" altLang="en-US" sz="2263" b="1" dirty="0"/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3635896" y="671777"/>
            <a:ext cx="4788532" cy="1137043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パターン①の場合って、ポリモーフィズム</a:t>
            </a:r>
            <a:br>
              <a:rPr lang="en-US" altLang="ja-JP" sz="2000" b="1" dirty="0"/>
            </a:br>
            <a:r>
              <a:rPr lang="ja-JP" altLang="en-US" sz="2000" b="1" dirty="0"/>
              <a:t>使ったりとかしても大丈夫？</a:t>
            </a:r>
          </a:p>
        </p:txBody>
      </p:sp>
      <p:sp>
        <p:nvSpPr>
          <p:cNvPr id="8" name="角丸四角形吹き出し 13">
            <a:extLst>
              <a:ext uri="{FF2B5EF4-FFF2-40B4-BE49-F238E27FC236}">
                <a16:creationId xmlns:a16="http://schemas.microsoft.com/office/drawing/2014/main" id="{A79A3481-DF33-4471-A3DC-2A38B381B07F}"/>
              </a:ext>
            </a:extLst>
          </p:cNvPr>
          <p:cNvSpPr/>
          <p:nvPr/>
        </p:nvSpPr>
        <p:spPr>
          <a:xfrm>
            <a:off x="395536" y="4236173"/>
            <a:ext cx="4788532" cy="1137043"/>
          </a:xfrm>
          <a:prstGeom prst="wedgeRoundRectCallout">
            <a:avLst>
              <a:gd name="adj1" fmla="val 61078"/>
              <a:gd name="adj2" fmla="val 204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元クラスの情報を受け取りたいときは？</a:t>
            </a:r>
            <a:br>
              <a:rPr lang="en-US" altLang="ja-JP" sz="2000" b="1" dirty="0"/>
            </a:br>
            <a:r>
              <a:rPr lang="ja-JP" altLang="en-US" sz="2000" b="1" dirty="0"/>
              <a:t>今回の場合はモデルハンドルいるよね？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D9CE738E-A02E-49D0-89D2-9823F358A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517232"/>
            <a:ext cx="770485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やり取りする数が少ない場合は、引数で渡せばよい。</a:t>
            </a:r>
            <a:br>
              <a:rPr lang="en-US" altLang="ja-JP" sz="2263" b="1" dirty="0"/>
            </a:br>
            <a:r>
              <a:rPr lang="ja-JP" altLang="en-US" sz="2263" b="1" dirty="0"/>
              <a:t>やり取りが多い場合は、アニメクラスに親クラスのアドレスを</a:t>
            </a:r>
            <a:br>
              <a:rPr lang="en-US" altLang="ja-JP" sz="2263" b="1" dirty="0"/>
            </a:br>
            <a:r>
              <a:rPr lang="ja-JP" altLang="en-US" sz="2263" b="1" dirty="0"/>
              <a:t>渡してしまう手法がある。</a:t>
            </a:r>
          </a:p>
        </p:txBody>
      </p:sp>
    </p:spTree>
    <p:extLst>
      <p:ext uri="{BB962C8B-B14F-4D97-AF65-F5344CB8AC3E}">
        <p14:creationId xmlns:p14="http://schemas.microsoft.com/office/powerpoint/2010/main" val="304196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4572000" y="239729"/>
            <a:ext cx="3852428" cy="813007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親クラスのアドレスを渡す・・・</a:t>
            </a:r>
            <a:br>
              <a:rPr lang="en-US" altLang="ja-JP" sz="2000" b="1" dirty="0"/>
            </a:br>
            <a:r>
              <a:rPr lang="ja-JP" altLang="en-US" sz="2000" b="1" dirty="0"/>
              <a:t>どういう事？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D9CE738E-A02E-49D0-89D2-9823F358A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052736"/>
            <a:ext cx="165618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＜作成例＞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37EB84D-7726-45E7-BE47-C9CDD3DD7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168277"/>
            <a:ext cx="6096000" cy="828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19F0A7B9-D2F0-4ED8-BC79-FC86FFF78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1610506"/>
            <a:ext cx="2808312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3D</a:t>
            </a:r>
            <a:r>
              <a:rPr lang="ja-JP" altLang="en-US" sz="2263" b="1" dirty="0"/>
              <a:t>モデル操作クラス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6BB1082-BFA5-4B30-8B4A-CABB99F5D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460" y="3913460"/>
            <a:ext cx="6389080" cy="27048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25E4A33E-2C7D-4CE3-B495-115C9456C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3350103"/>
            <a:ext cx="4524920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アニメーション付き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モデルクラス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B9E0E4-B6F8-4817-89FE-BED34AF2203C}"/>
              </a:ext>
            </a:extLst>
          </p:cNvPr>
          <p:cNvSpPr/>
          <p:nvPr/>
        </p:nvSpPr>
        <p:spPr>
          <a:xfrm>
            <a:off x="1691680" y="4521820"/>
            <a:ext cx="1523752" cy="198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A298B7E-C5AE-4A18-9451-4FF3E88F2D97}"/>
              </a:ext>
            </a:extLst>
          </p:cNvPr>
          <p:cNvSpPr/>
          <p:nvPr/>
        </p:nvSpPr>
        <p:spPr>
          <a:xfrm>
            <a:off x="2051720" y="5473584"/>
            <a:ext cx="1944216" cy="198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02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>
            <a:extLst>
              <a:ext uri="{FF2B5EF4-FFF2-40B4-BE49-F238E27FC236}">
                <a16:creationId xmlns:a16="http://schemas.microsoft.com/office/drawing/2014/main" id="{19F0A7B9-D2F0-4ED8-BC79-FC86FFF78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404664"/>
            <a:ext cx="2808312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アニメーションクラス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0C6506-BDDC-407E-A2F2-4DFFE6806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7" y="1067941"/>
            <a:ext cx="6372225" cy="2505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EC95B22-A2BE-42FF-93C2-5BF7BDD52EA2}"/>
              </a:ext>
            </a:extLst>
          </p:cNvPr>
          <p:cNvSpPr/>
          <p:nvPr/>
        </p:nvSpPr>
        <p:spPr>
          <a:xfrm>
            <a:off x="1853765" y="1885721"/>
            <a:ext cx="2138638" cy="217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CD1D06AD-1560-4D3C-910A-2E62E8C51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3851067"/>
            <a:ext cx="826933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defRPr/>
            </a:pPr>
            <a:r>
              <a:rPr lang="ja-JP" altLang="en-US" sz="2400" b="1" dirty="0"/>
              <a:t>ここで</a:t>
            </a:r>
            <a:r>
              <a:rPr lang="en-US" altLang="ja-JP" sz="2400" b="1" dirty="0" err="1">
                <a:solidFill>
                  <a:srgbClr val="FF66CC"/>
                </a:solidFill>
              </a:rPr>
              <a:t>m_owner</a:t>
            </a:r>
            <a:r>
              <a:rPr lang="ja-JP" altLang="en-US" sz="2400" b="1" dirty="0"/>
              <a:t>に自身の所有者のアドレスが格納されるので、この変数を通せば様々な情報を取得できる。</a:t>
            </a:r>
            <a:br>
              <a:rPr lang="en-US" altLang="ja-JP" sz="2400" b="1" dirty="0"/>
            </a:br>
            <a:r>
              <a:rPr lang="ja-JP" altLang="en-US" sz="2400" b="1" dirty="0"/>
              <a:t>ただし、</a:t>
            </a:r>
            <a:r>
              <a:rPr lang="en-US" altLang="ja-JP" sz="2400" b="1" dirty="0" err="1"/>
              <a:t>ActorBase</a:t>
            </a:r>
            <a:r>
              <a:rPr lang="ja-JP" altLang="en-US" sz="2400" b="1" dirty="0"/>
              <a:t>クラスから取得可能な</a:t>
            </a:r>
            <a:br>
              <a:rPr lang="en-US" altLang="ja-JP" sz="2400" b="1" dirty="0"/>
            </a:br>
            <a:r>
              <a:rPr lang="ja-JP" altLang="en-US" sz="2400" b="1" dirty="0"/>
              <a:t>情報だけになるので注意が必要。</a:t>
            </a:r>
            <a:endParaRPr lang="en-US" altLang="ja-JP" sz="2400" b="1" dirty="0"/>
          </a:p>
          <a:p>
            <a:pPr algn="ctr">
              <a:defRPr/>
            </a:pPr>
            <a:br>
              <a:rPr lang="en-US" altLang="ja-JP" sz="2400" b="1" dirty="0"/>
            </a:br>
            <a:r>
              <a:rPr lang="ja-JP" altLang="en-US" sz="2400" b="1" dirty="0"/>
              <a:t>また、オーナーが</a:t>
            </a:r>
            <a:r>
              <a:rPr lang="en-US" altLang="ja-JP" sz="2400" b="1" dirty="0">
                <a:solidFill>
                  <a:srgbClr val="00B0F0"/>
                </a:solidFill>
              </a:rPr>
              <a:t>std::vector</a:t>
            </a:r>
            <a:r>
              <a:rPr lang="ja-JP" altLang="en-US" sz="2400" b="1" dirty="0"/>
              <a:t>のコンテナに格納されている時は</a:t>
            </a:r>
            <a:br>
              <a:rPr lang="en-US" altLang="ja-JP" sz="2400" b="1" dirty="0"/>
            </a:br>
            <a:r>
              <a:rPr lang="ja-JP" altLang="en-US" sz="2400" b="1" dirty="0">
                <a:solidFill>
                  <a:srgbClr val="7030A0"/>
                </a:solidFill>
              </a:rPr>
              <a:t>状況によってはアドレスが変更される</a:t>
            </a:r>
            <a:r>
              <a:rPr lang="ja-JP" altLang="en-US" sz="2400" b="1" dirty="0"/>
              <a:t>危険もある。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9180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更なる拡張？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941376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と、ついつい機能をたくさん搭載したくなるが、</a:t>
            </a:r>
            <a:br>
              <a:rPr lang="en-US" altLang="ja-JP" sz="2260" b="1" dirty="0"/>
            </a:br>
            <a:r>
              <a:rPr lang="ja-JP" altLang="en-US" sz="2260" b="1" dirty="0"/>
              <a:t>継承したものをさらに継承することもできるので</a:t>
            </a:r>
            <a:br>
              <a:rPr lang="en-US" altLang="ja-JP" sz="2260" b="1" dirty="0"/>
            </a:br>
            <a:r>
              <a:rPr lang="ja-JP" altLang="en-US" sz="2260" b="1" dirty="0"/>
              <a:t>役割をよく考えて追加した方が良い。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043608" y="1096865"/>
            <a:ext cx="4382175" cy="1396031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よーし、それなら他にも機能を</a:t>
            </a:r>
            <a:br>
              <a:rPr lang="en-US" altLang="ja-JP" sz="2000" b="1" dirty="0"/>
            </a:br>
            <a:r>
              <a:rPr lang="ja-JP" altLang="en-US" sz="2000" b="1" dirty="0"/>
              <a:t>たくさん作ってしまおう！</a:t>
            </a:r>
            <a:br>
              <a:rPr lang="en-US" altLang="ja-JP" sz="2000" b="1" dirty="0"/>
            </a:br>
            <a:r>
              <a:rPr lang="ja-JP" altLang="en-US" sz="2000" b="1" dirty="0"/>
              <a:t>ステータス管理変数や半径、</a:t>
            </a:r>
            <a:br>
              <a:rPr lang="en-US" altLang="ja-JP" sz="2000" b="1" dirty="0"/>
            </a:br>
            <a:r>
              <a:rPr lang="ja-JP" altLang="en-US" sz="2000" b="1" dirty="0"/>
              <a:t>移動速度なんかも入れちゃおう！！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D1818CD-5E08-4F20-80F9-C18B95D78F66}"/>
              </a:ext>
            </a:extLst>
          </p:cNvPr>
          <p:cNvSpPr/>
          <p:nvPr/>
        </p:nvSpPr>
        <p:spPr>
          <a:xfrm>
            <a:off x="683568" y="4733360"/>
            <a:ext cx="1368152" cy="7036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3D</a:t>
            </a:r>
            <a:r>
              <a:rPr kumimoji="1" lang="ja-JP" altLang="en-US" dirty="0">
                <a:solidFill>
                  <a:srgbClr val="FF0000"/>
                </a:solidFill>
              </a:rPr>
              <a:t>モデル</a:t>
            </a:r>
            <a:br>
              <a:rPr kumimoji="1" lang="en-US" altLang="ja-JP" dirty="0">
                <a:solidFill>
                  <a:srgbClr val="FF0000"/>
                </a:solidFill>
              </a:rPr>
            </a:br>
            <a:r>
              <a:rPr kumimoji="1" lang="ja-JP" altLang="en-US" dirty="0">
                <a:solidFill>
                  <a:srgbClr val="FF0000"/>
                </a:solidFill>
              </a:rPr>
              <a:t>描画のみ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57632CD9-EEC7-4613-A158-08D43A3B479E}"/>
              </a:ext>
            </a:extLst>
          </p:cNvPr>
          <p:cNvSpPr/>
          <p:nvPr/>
        </p:nvSpPr>
        <p:spPr>
          <a:xfrm>
            <a:off x="2195736" y="4643351"/>
            <a:ext cx="936104" cy="883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継承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D6EE9F8-618C-45DD-8038-AF30C7CBBFF4}"/>
              </a:ext>
            </a:extLst>
          </p:cNvPr>
          <p:cNvSpPr/>
          <p:nvPr/>
        </p:nvSpPr>
        <p:spPr>
          <a:xfrm>
            <a:off x="3347864" y="4733360"/>
            <a:ext cx="1656184" cy="7036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ゲームに出る</a:t>
            </a:r>
            <a:br>
              <a:rPr kumimoji="1" lang="en-US" altLang="ja-JP" dirty="0">
                <a:solidFill>
                  <a:srgbClr val="FF0000"/>
                </a:solidFill>
              </a:rPr>
            </a:br>
            <a:r>
              <a:rPr kumimoji="1" lang="ja-JP" altLang="en-US" dirty="0">
                <a:solidFill>
                  <a:srgbClr val="FF0000"/>
                </a:solidFill>
              </a:rPr>
              <a:t>キャラクター</a:t>
            </a:r>
          </a:p>
        </p:txBody>
      </p:sp>
      <p:pic>
        <p:nvPicPr>
          <p:cNvPr id="5" name="Picture 2" descr="木の成長過程のイラスト6">
            <a:extLst>
              <a:ext uri="{FF2B5EF4-FFF2-40B4-BE49-F238E27FC236}">
                <a16:creationId xmlns:a16="http://schemas.microsoft.com/office/drawing/2014/main" id="{5ED800A9-222F-4710-A603-51709019B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27017"/>
            <a:ext cx="6477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樽のイラスト">
            <a:extLst>
              <a:ext uri="{FF2B5EF4-FFF2-40B4-BE49-F238E27FC236}">
                <a16:creationId xmlns:a16="http://schemas.microsoft.com/office/drawing/2014/main" id="{34BA52EE-8F3F-42AE-9796-A70EFF384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45" y="5589240"/>
            <a:ext cx="684076" cy="7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服を着た棒人間のイラスト（スーツ・ネクタイ）">
            <a:extLst>
              <a:ext uri="{FF2B5EF4-FFF2-40B4-BE49-F238E27FC236}">
                <a16:creationId xmlns:a16="http://schemas.microsoft.com/office/drawing/2014/main" id="{DBD024DB-CFA5-4CA3-B59B-935CF10DE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522" y="5527017"/>
            <a:ext cx="435794" cy="111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服を着た棒人間のイラスト（緑）">
            <a:extLst>
              <a:ext uri="{FF2B5EF4-FFF2-40B4-BE49-F238E27FC236}">
                <a16:creationId xmlns:a16="http://schemas.microsoft.com/office/drawing/2014/main" id="{EC3D0C71-CE46-42E5-A77A-A5487DC2B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726" y="5527017"/>
            <a:ext cx="444544" cy="113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AFF1975E-A783-4BAA-A22F-855A68DEE21B}"/>
              </a:ext>
            </a:extLst>
          </p:cNvPr>
          <p:cNvSpPr/>
          <p:nvPr/>
        </p:nvSpPr>
        <p:spPr>
          <a:xfrm>
            <a:off x="5282458" y="4622256"/>
            <a:ext cx="936104" cy="883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継承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6220376-7A90-4EEC-B3CC-7D2D52E5443E}"/>
              </a:ext>
            </a:extLst>
          </p:cNvPr>
          <p:cNvSpPr/>
          <p:nvPr/>
        </p:nvSpPr>
        <p:spPr>
          <a:xfrm>
            <a:off x="6496972" y="4664346"/>
            <a:ext cx="1656184" cy="851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特定のゲームに出る</a:t>
            </a:r>
            <a:br>
              <a:rPr kumimoji="1" lang="en-US" altLang="ja-JP" dirty="0">
                <a:solidFill>
                  <a:srgbClr val="FF0000"/>
                </a:solidFill>
              </a:rPr>
            </a:br>
            <a:r>
              <a:rPr kumimoji="1" lang="ja-JP" altLang="en-US" dirty="0">
                <a:solidFill>
                  <a:srgbClr val="FF0000"/>
                </a:solidFill>
              </a:rPr>
              <a:t>キャラクター</a:t>
            </a:r>
          </a:p>
        </p:txBody>
      </p:sp>
      <p:pic>
        <p:nvPicPr>
          <p:cNvPr id="1034" name="Picture 10" descr="ガーゴイルのイラスト・水なし">
            <a:extLst>
              <a:ext uri="{FF2B5EF4-FFF2-40B4-BE49-F238E27FC236}">
                <a16:creationId xmlns:a16="http://schemas.microsoft.com/office/drawing/2014/main" id="{A7AE906B-C42F-4C6A-BDEE-E1747FB85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239" y="5641629"/>
            <a:ext cx="1061065" cy="113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飛行機のイラスト（赤）">
            <a:extLst>
              <a:ext uri="{FF2B5EF4-FFF2-40B4-BE49-F238E27FC236}">
                <a16:creationId xmlns:a16="http://schemas.microsoft.com/office/drawing/2014/main" id="{9560300B-928C-4303-A287-BB519D6C3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935" y="5783770"/>
            <a:ext cx="1320022" cy="85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その他の描画クラス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908720"/>
            <a:ext cx="8377913" cy="44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他にも描画周りを楽にするようなクラスが考えられる。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B12837B7-F0B8-4F49-8ED6-F54EDAF68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60570"/>
            <a:ext cx="165618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＜例＞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1FDC7875-A3EB-4208-B375-682771010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734" y="2129270"/>
            <a:ext cx="7645341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〇文字を一文字ずつ描画していくクラス</a:t>
            </a:r>
            <a:br>
              <a:rPr lang="en-US" altLang="ja-JP" sz="2260" b="1" dirty="0"/>
            </a:br>
            <a:r>
              <a:rPr lang="ja-JP" altLang="en-US" sz="2260" b="1" dirty="0"/>
              <a:t>　　⇒テキストウィンドウ作成に便利！</a:t>
            </a:r>
          </a:p>
        </p:txBody>
      </p:sp>
      <p:pic>
        <p:nvPicPr>
          <p:cNvPr id="2050" name="Picture 2" descr="http://www.vita-chi.net/mese/box_blue_name.png">
            <a:extLst>
              <a:ext uri="{FF2B5EF4-FFF2-40B4-BE49-F238E27FC236}">
                <a16:creationId xmlns:a16="http://schemas.microsoft.com/office/drawing/2014/main" id="{1576956E-3762-4089-A1DD-F81634103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917178"/>
            <a:ext cx="5328592" cy="125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22676685-05DF-4FD3-8451-AFE6E0474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3224599"/>
            <a:ext cx="4896544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0" b="1" dirty="0">
                <a:solidFill>
                  <a:schemeClr val="bg1"/>
                </a:solidFill>
              </a:rPr>
              <a:t>ここの文字を表示するようなクラスです。</a:t>
            </a:r>
            <a:br>
              <a:rPr lang="en-US" altLang="ja-JP" sz="2260" b="1" dirty="0">
                <a:solidFill>
                  <a:schemeClr val="bg1"/>
                </a:solidFill>
              </a:rPr>
            </a:br>
            <a:r>
              <a:rPr lang="ja-JP" altLang="en-US" sz="2260" b="1" dirty="0">
                <a:solidFill>
                  <a:schemeClr val="bg1"/>
                </a:solidFill>
              </a:rPr>
              <a:t>一文字ずつ表示でき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B2107984-C4BD-40C1-A004-39E072315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441292"/>
            <a:ext cx="7645341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〇</a:t>
            </a:r>
            <a:r>
              <a:rPr lang="en-US" altLang="ja-JP" sz="2260" b="1" dirty="0"/>
              <a:t>3D</a:t>
            </a:r>
            <a:r>
              <a:rPr lang="ja-JP" altLang="en-US" sz="2260" b="1" dirty="0"/>
              <a:t>空間上にビルボードを表示するクラス。</a:t>
            </a:r>
            <a:br>
              <a:rPr lang="en-US" altLang="ja-JP" sz="2260" b="1" dirty="0"/>
            </a:br>
            <a:r>
              <a:rPr lang="ja-JP" altLang="en-US" sz="2260" b="1" dirty="0"/>
              <a:t>　　⇒敵につける</a:t>
            </a:r>
            <a:r>
              <a:rPr lang="en-US" altLang="ja-JP" sz="2260" b="1" dirty="0"/>
              <a:t>HP</a:t>
            </a:r>
            <a:r>
              <a:rPr lang="ja-JP" altLang="en-US" sz="2260" b="1" dirty="0"/>
              <a:t>ゲージなどに利用可能！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09A16207-DD85-4C8F-913A-74394DB2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9" y="5809444"/>
            <a:ext cx="8377913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これらは使うゲームと使わないゲームがあるので、</a:t>
            </a:r>
            <a:br>
              <a:rPr lang="en-US" altLang="ja-JP" sz="2260" b="1" dirty="0"/>
            </a:br>
            <a:r>
              <a:rPr lang="ja-JP" altLang="en-US" sz="2260" b="1" dirty="0"/>
              <a:t>必要になった時にライブラリ化するとよい。</a:t>
            </a:r>
          </a:p>
        </p:txBody>
      </p:sp>
    </p:spTree>
    <p:extLst>
      <p:ext uri="{BB962C8B-B14F-4D97-AF65-F5344CB8AC3E}">
        <p14:creationId xmlns:p14="http://schemas.microsoft.com/office/powerpoint/2010/main" val="308837584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14016</TotalTime>
  <Words>727</Words>
  <Application>Microsoft Office PowerPoint</Application>
  <PresentationFormat>画面に合わせる (4:3)</PresentationFormat>
  <Paragraphs>52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ＭＳ Ｐゴシック</vt:lpstr>
      <vt:lpstr>Arial</vt:lpstr>
      <vt:lpstr>Calibri</vt:lpstr>
      <vt:lpstr>標準デザイン</vt:lpstr>
      <vt:lpstr>この単元の目標</vt:lpstr>
      <vt:lpstr>4　描画管理のライブラリ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593</cp:revision>
  <dcterms:created xsi:type="dcterms:W3CDTF">2013-04-19T02:46:48Z</dcterms:created>
  <dcterms:modified xsi:type="dcterms:W3CDTF">2023-11-15T08:43:38Z</dcterms:modified>
</cp:coreProperties>
</file>