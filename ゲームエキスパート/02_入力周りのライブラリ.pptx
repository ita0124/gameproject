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263" r:id="rId3"/>
    <p:sldId id="424" r:id="rId4"/>
    <p:sldId id="502" r:id="rId5"/>
    <p:sldId id="499" r:id="rId6"/>
    <p:sldId id="503" r:id="rId7"/>
    <p:sldId id="504" r:id="rId8"/>
    <p:sldId id="505" r:id="rId9"/>
    <p:sldId id="506" r:id="rId10"/>
    <p:sldId id="507" r:id="rId11"/>
    <p:sldId id="500" r:id="rId12"/>
    <p:sldId id="501" r:id="rId13"/>
    <p:sldId id="508" r:id="rId14"/>
    <p:sldId id="509" r:id="rId15"/>
    <p:sldId id="510" r:id="rId16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FF0000"/>
    <a:srgbClr val="0000FF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76" d="100"/>
          <a:sy n="76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2023/10/25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287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960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4559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5419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83069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05272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9783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8648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0108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57691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42800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4555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入力用ライブラリを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2</a:t>
            </a:r>
            <a:r>
              <a:rPr lang="ja-JP" altLang="en-US" sz="4000" dirty="0"/>
              <a:t>　入力周りのライブラリ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入力処理の種類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1988840"/>
            <a:ext cx="8064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ゲームの入力処理の定番と言えば以下の</a:t>
            </a:r>
            <a:r>
              <a:rPr lang="en-US" altLang="ja-JP" sz="2400" b="1" dirty="0"/>
              <a:t>3</a:t>
            </a:r>
            <a:r>
              <a:rPr lang="ja-JP" altLang="en-US" sz="2400" b="1" dirty="0"/>
              <a:t>つ。</a:t>
            </a:r>
            <a:endParaRPr lang="en-US" altLang="ja-JP" sz="2400" b="1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CBEF112A-7D9E-45F3-B9EE-27239A38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780928"/>
            <a:ext cx="806489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3200" b="1" dirty="0"/>
              <a:t>①</a:t>
            </a:r>
            <a:r>
              <a:rPr lang="ja-JP" altLang="en-US" sz="3200" b="1" dirty="0">
                <a:solidFill>
                  <a:srgbClr val="00B050"/>
                </a:solidFill>
              </a:rPr>
              <a:t>マウス</a:t>
            </a:r>
            <a:r>
              <a:rPr lang="ja-JP" altLang="en-US" sz="3200" b="1" dirty="0"/>
              <a:t>処理</a:t>
            </a:r>
            <a:endParaRPr lang="en-US" altLang="ja-JP" sz="32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3200" b="1" dirty="0"/>
              <a:t>②</a:t>
            </a:r>
            <a:r>
              <a:rPr lang="ja-JP" altLang="en-US" sz="3200" b="1" dirty="0">
                <a:solidFill>
                  <a:srgbClr val="FFC000"/>
                </a:solidFill>
              </a:rPr>
              <a:t>キーボード</a:t>
            </a:r>
            <a:r>
              <a:rPr lang="ja-JP" altLang="en-US" sz="3200" b="1" dirty="0"/>
              <a:t>処理</a:t>
            </a:r>
            <a:endParaRPr lang="en-US" altLang="ja-JP" sz="32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3200" b="1" dirty="0"/>
              <a:t>③</a:t>
            </a:r>
            <a:r>
              <a:rPr lang="ja-JP" altLang="en-US" sz="3200" b="1" dirty="0">
                <a:solidFill>
                  <a:srgbClr val="FF0000"/>
                </a:solidFill>
              </a:rPr>
              <a:t>コントローラ</a:t>
            </a:r>
            <a:r>
              <a:rPr lang="ja-JP" altLang="en-US" sz="3200" b="1" dirty="0"/>
              <a:t>処理</a:t>
            </a:r>
            <a:endParaRPr lang="en-US" altLang="ja-JP" sz="3200" b="1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AA5C2FD-B85C-4A2C-97BC-F9BADC157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334307"/>
            <a:ext cx="80648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これらは、たとえ今回使用しなくてもライブラリとして</a:t>
            </a:r>
            <a:br>
              <a:rPr lang="en-US" altLang="ja-JP" sz="2400" b="1" dirty="0"/>
            </a:br>
            <a:r>
              <a:rPr lang="ja-JP" altLang="en-US" sz="2400" b="1" dirty="0"/>
              <a:t>作成しておいて損は無い！</a:t>
            </a:r>
            <a:br>
              <a:rPr lang="en-US" altLang="ja-JP" sz="2400" b="1" dirty="0"/>
            </a:br>
            <a:r>
              <a:rPr lang="ja-JP" altLang="en-US" sz="2400" b="1" dirty="0"/>
              <a:t>基本的には</a:t>
            </a:r>
            <a:r>
              <a:rPr lang="en-US" altLang="ja-JP" sz="2400" b="1" dirty="0">
                <a:solidFill>
                  <a:srgbClr val="FF66CC"/>
                </a:solidFill>
              </a:rPr>
              <a:t>static</a:t>
            </a:r>
            <a:r>
              <a:rPr lang="ja-JP" altLang="en-US" sz="2400" b="1" dirty="0"/>
              <a:t>か</a:t>
            </a:r>
            <a:r>
              <a:rPr lang="ja-JP" altLang="en-US" sz="2400" b="1" dirty="0">
                <a:solidFill>
                  <a:srgbClr val="00B0F0"/>
                </a:solidFill>
              </a:rPr>
              <a:t>シングルトン</a:t>
            </a:r>
            <a:r>
              <a:rPr lang="ja-JP" altLang="en-US" sz="2400" b="1" dirty="0"/>
              <a:t>で作っておくと楽。</a:t>
            </a:r>
            <a:endParaRPr lang="en-US" altLang="ja-JP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コントローラ処理の作成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827584" y="1268760"/>
            <a:ext cx="5030247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キーボードとマウスクラスは出来てるよ！</a:t>
            </a:r>
            <a:br>
              <a:rPr lang="en-US" altLang="ja-JP" sz="2000" b="1" dirty="0"/>
            </a:br>
            <a:r>
              <a:rPr lang="ja-JP" altLang="en-US" sz="2000" b="1" dirty="0"/>
              <a:t>コントローラは・・・キーボードで遊べるから</a:t>
            </a:r>
            <a:br>
              <a:rPr lang="en-US" altLang="ja-JP" sz="2000" b="1" dirty="0"/>
            </a:br>
            <a:r>
              <a:rPr lang="ja-JP" altLang="en-US" sz="2000" b="1" dirty="0"/>
              <a:t>いらない</a:t>
            </a:r>
            <a:r>
              <a:rPr lang="ja-JP" altLang="en-US" sz="2000" b="1" dirty="0" err="1"/>
              <a:t>や</a:t>
            </a:r>
            <a:r>
              <a:rPr lang="ja-JP" altLang="en-US" sz="2000" b="1" dirty="0"/>
              <a:t>！</a:t>
            </a:r>
          </a:p>
        </p:txBody>
      </p:sp>
      <p:pic>
        <p:nvPicPr>
          <p:cNvPr id="1026" name="Picture 2" descr="飽きた人のイラスト">
            <a:extLst>
              <a:ext uri="{FF2B5EF4-FFF2-40B4-BE49-F238E27FC236}">
                <a16:creationId xmlns:a16="http://schemas.microsoft.com/office/drawing/2014/main" id="{E88ADE1E-4768-436B-AB78-A4EC7EFC9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836712"/>
            <a:ext cx="2625080" cy="216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F24F9713-5B69-43DC-A6B5-094A4B6E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996952"/>
            <a:ext cx="80648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というのは避ける！！</a:t>
            </a:r>
            <a:br>
              <a:rPr lang="en-US" altLang="ja-JP" sz="2400" b="1" dirty="0"/>
            </a:br>
            <a:r>
              <a:rPr lang="ja-JP" altLang="en-US" sz="2400" b="1" dirty="0"/>
              <a:t>コントローラが一番遊びやすいので、可能な限り</a:t>
            </a:r>
            <a:br>
              <a:rPr lang="en-US" altLang="ja-JP" sz="2400" b="1" dirty="0"/>
            </a:br>
            <a:r>
              <a:rPr lang="ja-JP" altLang="en-US" sz="2400" b="1" dirty="0">
                <a:solidFill>
                  <a:srgbClr val="FF0000"/>
                </a:solidFill>
              </a:rPr>
              <a:t>コントローラ処理を追加すること</a:t>
            </a:r>
            <a:r>
              <a:rPr lang="ja-JP" altLang="en-US" sz="2400" b="1" dirty="0"/>
              <a:t>！！</a:t>
            </a:r>
            <a:endParaRPr lang="en-US" altLang="ja-JP" sz="2400" b="1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D5F37BD4-7CAD-4BBA-8859-B72DE0695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8" y="4989075"/>
            <a:ext cx="80648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プログラムの方は「</a:t>
            </a:r>
            <a:r>
              <a:rPr lang="en-US" altLang="ja-JP" sz="2400" b="1" dirty="0" err="1">
                <a:solidFill>
                  <a:srgbClr val="FF66CC"/>
                </a:solidFill>
              </a:rPr>
              <a:t>GetJoypadInputState</a:t>
            </a:r>
            <a:r>
              <a:rPr lang="ja-JP" altLang="en-US" sz="2400" b="1" dirty="0"/>
              <a:t>」や</a:t>
            </a:r>
            <a:br>
              <a:rPr lang="en-US" altLang="ja-JP" sz="2400" b="1" dirty="0"/>
            </a:br>
            <a:r>
              <a:rPr lang="ja-JP" altLang="en-US" sz="2400" b="1" dirty="0"/>
              <a:t>「</a:t>
            </a:r>
            <a:r>
              <a:rPr lang="en-US" altLang="ja-JP" sz="2400" b="1" dirty="0" err="1">
                <a:solidFill>
                  <a:srgbClr val="FF66CC"/>
                </a:solidFill>
              </a:rPr>
              <a:t>GetJoypadAnalogInput</a:t>
            </a:r>
            <a:r>
              <a:rPr lang="ja-JP" altLang="en-US" sz="2400" b="1" dirty="0"/>
              <a:t>」といった関数を使うと楽。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36912"/>
            <a:ext cx="770485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パッド入力に関しては、どのボタンが押されたかを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B0F0"/>
                </a:solidFill>
              </a:rPr>
              <a:t>文字で表示するようなテストプログラム</a:t>
            </a:r>
            <a:r>
              <a:rPr lang="ja-JP" altLang="en-US" sz="2263" b="1" dirty="0"/>
              <a:t>を作るのが無難。</a:t>
            </a:r>
            <a:br>
              <a:rPr lang="en-US" altLang="ja-JP" sz="2263" b="1" dirty="0"/>
            </a:br>
            <a:r>
              <a:rPr lang="ja-JP" altLang="en-US" sz="2263" b="1" dirty="0"/>
              <a:t>パッドの種類によっても反応が変わることが多いので</a:t>
            </a:r>
            <a:br>
              <a:rPr lang="en-US" altLang="ja-JP" sz="2263" b="1" dirty="0"/>
            </a:br>
            <a:r>
              <a:rPr lang="ja-JP" altLang="en-US" sz="2263" b="1" dirty="0"/>
              <a:t>いきなりゲームに実装せずに実験から始めよう！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3635896" y="671777"/>
            <a:ext cx="4392488" cy="1137043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あれ？なんだかキー入力判定が</a:t>
            </a:r>
            <a:br>
              <a:rPr lang="en-US" altLang="ja-JP" sz="2000" b="1" dirty="0"/>
            </a:br>
            <a:r>
              <a:rPr lang="ja-JP" altLang="en-US" sz="2000" b="1" dirty="0"/>
              <a:t>おかしい気が・・・</a:t>
            </a:r>
            <a:br>
              <a:rPr lang="en-US" altLang="ja-JP" sz="2000" b="1" dirty="0"/>
            </a:br>
            <a:r>
              <a:rPr lang="ja-JP" altLang="en-US" sz="2000" b="1" dirty="0"/>
              <a:t>どうなってるの？</a:t>
            </a:r>
          </a:p>
        </p:txBody>
      </p:sp>
      <p:pic>
        <p:nvPicPr>
          <p:cNvPr id="2050" name="Picture 2" descr="書類を見て焦る会社員のイラスト（男性）">
            <a:extLst>
              <a:ext uri="{FF2B5EF4-FFF2-40B4-BE49-F238E27FC236}">
                <a16:creationId xmlns:a16="http://schemas.microsoft.com/office/drawing/2014/main" id="{6C5FD5AB-81F6-4D3B-8F5C-236C0A683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7798"/>
            <a:ext cx="15621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BEAC83A6-6F8D-4900-BA40-F5E5B3C76E04}"/>
              </a:ext>
            </a:extLst>
          </p:cNvPr>
          <p:cNvSpPr/>
          <p:nvPr/>
        </p:nvSpPr>
        <p:spPr>
          <a:xfrm>
            <a:off x="1043608" y="4923202"/>
            <a:ext cx="4392488" cy="1485278"/>
          </a:xfrm>
          <a:prstGeom prst="wedgeRoundRectCallout">
            <a:avLst>
              <a:gd name="adj1" fmla="val 63544"/>
              <a:gd name="adj2" fmla="val -2476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テストプログラムで上手くいったら</a:t>
            </a:r>
            <a:br>
              <a:rPr lang="en-US" altLang="ja-JP" sz="2000" b="1" dirty="0"/>
            </a:br>
            <a:r>
              <a:rPr lang="ja-JP" altLang="en-US" sz="2000" b="1" dirty="0"/>
              <a:t>移植するといいですよ。</a:t>
            </a:r>
            <a:br>
              <a:rPr lang="en-US" altLang="ja-JP" sz="2000" b="1" dirty="0"/>
            </a:br>
            <a:r>
              <a:rPr lang="ja-JP" altLang="en-US" sz="2000" b="1" dirty="0"/>
              <a:t>元々ライブラリは移植しやすいので</a:t>
            </a:r>
            <a:br>
              <a:rPr lang="en-US" altLang="ja-JP" sz="2000" b="1" dirty="0"/>
            </a:br>
            <a:r>
              <a:rPr lang="ja-JP" altLang="en-US" sz="2000" b="1" dirty="0"/>
              <a:t>問題なく行けるはずです！</a:t>
            </a:r>
          </a:p>
        </p:txBody>
      </p:sp>
      <p:pic>
        <p:nvPicPr>
          <p:cNvPr id="2052" name="Picture 4" descr="バンザイをしている女の子のイラスト">
            <a:extLst>
              <a:ext uri="{FF2B5EF4-FFF2-40B4-BE49-F238E27FC236}">
                <a16:creationId xmlns:a16="http://schemas.microsoft.com/office/drawing/2014/main" id="{F8474328-BC60-43B5-A73C-6B18FE715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240" y="4270953"/>
            <a:ext cx="2769096" cy="251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0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[DirectInput</a:t>
            </a:r>
            <a:r>
              <a:rPr lang="ja-JP" altLang="en-US" sz="2250" b="1" dirty="0"/>
              <a:t>と</a:t>
            </a:r>
            <a:r>
              <a:rPr lang="en-US" altLang="ja-JP" sz="2250" b="1" dirty="0" err="1"/>
              <a:t>Xinput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834933"/>
            <a:ext cx="83779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800" b="1" dirty="0"/>
              <a:t>PC</a:t>
            </a:r>
            <a:r>
              <a:rPr lang="ja-JP" altLang="en-US" sz="2800" b="1" dirty="0"/>
              <a:t>のコントローラには</a:t>
            </a:r>
            <a:r>
              <a:rPr lang="en-US" altLang="ja-JP" sz="2800" b="1" dirty="0">
                <a:solidFill>
                  <a:srgbClr val="FF0000"/>
                </a:solidFill>
              </a:rPr>
              <a:t>DirectInput</a:t>
            </a:r>
            <a:r>
              <a:rPr lang="ja-JP" altLang="en-US" sz="2800" b="1" dirty="0"/>
              <a:t>方式と</a:t>
            </a:r>
            <a:br>
              <a:rPr lang="en-US" altLang="ja-JP" sz="2800" b="1" dirty="0"/>
            </a:br>
            <a:r>
              <a:rPr lang="en-US" altLang="ja-JP" sz="2800" b="1" dirty="0" err="1">
                <a:solidFill>
                  <a:srgbClr val="0000FF"/>
                </a:solidFill>
              </a:rPr>
              <a:t>Xinput</a:t>
            </a:r>
            <a:r>
              <a:rPr lang="ja-JP" altLang="en-US" sz="2800" b="1" dirty="0"/>
              <a:t>方式が存在する。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683568" y="1222662"/>
            <a:ext cx="5030247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ん？「</a:t>
            </a:r>
            <a:r>
              <a:rPr lang="en-US" altLang="ja-JP" sz="2000" b="1" dirty="0" err="1">
                <a:solidFill>
                  <a:srgbClr val="FF0000"/>
                </a:solidFill>
              </a:rPr>
              <a:t>GetJoypadDirectInputState</a:t>
            </a:r>
            <a:r>
              <a:rPr lang="ja-JP" altLang="en-US" sz="2000" b="1" dirty="0"/>
              <a:t>」と</a:t>
            </a:r>
            <a:br>
              <a:rPr lang="en-US" altLang="ja-JP" sz="2000" b="1" dirty="0"/>
            </a:br>
            <a:r>
              <a:rPr lang="ja-JP" altLang="en-US" sz="2000" b="1" dirty="0"/>
              <a:t>「</a:t>
            </a:r>
            <a:r>
              <a:rPr lang="en-US" altLang="ja-JP" sz="2000" b="1" dirty="0" err="1">
                <a:solidFill>
                  <a:srgbClr val="0000FF"/>
                </a:solidFill>
              </a:rPr>
              <a:t>GetJoypadXInputState</a:t>
            </a:r>
            <a:r>
              <a:rPr lang="ja-JP" altLang="en-US" sz="2000" b="1" dirty="0"/>
              <a:t>」って関数は</a:t>
            </a:r>
            <a:br>
              <a:rPr lang="en-US" altLang="ja-JP" sz="2000" b="1" dirty="0"/>
            </a:br>
            <a:r>
              <a:rPr lang="ja-JP" altLang="en-US" sz="2000" b="1" dirty="0"/>
              <a:t>何だろう？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921B5CD-BA4E-458E-89A4-7F8FA4BB0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293096"/>
            <a:ext cx="805518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b="1" dirty="0" err="1">
                <a:solidFill>
                  <a:srgbClr val="FF0000"/>
                </a:solidFill>
              </a:rPr>
              <a:t>GetJoypadDirectInputState</a:t>
            </a:r>
            <a:br>
              <a:rPr lang="en-US" altLang="ja-JP" sz="2800" b="1" dirty="0"/>
            </a:br>
            <a:r>
              <a:rPr lang="ja-JP" altLang="en-US" sz="2800" b="1" dirty="0"/>
              <a:t>　⇒</a:t>
            </a:r>
            <a:r>
              <a:rPr lang="en-US" altLang="ja-JP" sz="2800" b="1" dirty="0">
                <a:solidFill>
                  <a:srgbClr val="FF0000"/>
                </a:solidFill>
              </a:rPr>
              <a:t>DirectInput</a:t>
            </a:r>
            <a:r>
              <a:rPr lang="ja-JP" altLang="en-US" sz="2800" b="1" dirty="0"/>
              <a:t>方式のコントローラの情報を取得。</a:t>
            </a:r>
            <a:endParaRPr lang="en-US" altLang="ja-JP" sz="2800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b="1" dirty="0" err="1">
                <a:solidFill>
                  <a:srgbClr val="0000FF"/>
                </a:solidFill>
              </a:rPr>
              <a:t>GetJoypadXInputState</a:t>
            </a:r>
            <a:br>
              <a:rPr lang="en-US" altLang="ja-JP" sz="2800" b="1" dirty="0"/>
            </a:br>
            <a:r>
              <a:rPr lang="ja-JP" altLang="en-US" sz="2800" b="1" dirty="0"/>
              <a:t>　⇒</a:t>
            </a:r>
            <a:r>
              <a:rPr lang="en-US" altLang="ja-JP" sz="2800" b="1" dirty="0" err="1">
                <a:solidFill>
                  <a:srgbClr val="0000FF"/>
                </a:solidFill>
              </a:rPr>
              <a:t>XInput</a:t>
            </a:r>
            <a:r>
              <a:rPr lang="ja-JP" altLang="en-US" sz="2800" b="1" dirty="0"/>
              <a:t>方式のコントローラの情報を取得。</a:t>
            </a:r>
            <a:endParaRPr lang="en-US" altLang="ja-JP" sz="2800" b="1" dirty="0"/>
          </a:p>
        </p:txBody>
      </p:sp>
      <p:pic>
        <p:nvPicPr>
          <p:cNvPr id="1026" name="Picture 2" descr="話し合う人たちのイラスト（女性1）">
            <a:extLst>
              <a:ext uri="{FF2B5EF4-FFF2-40B4-BE49-F238E27FC236}">
                <a16:creationId xmlns:a16="http://schemas.microsoft.com/office/drawing/2014/main" id="{129955D0-F729-481B-B994-D985CC3EE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74762"/>
            <a:ext cx="19431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2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C921B5CD-BA4E-458E-89A4-7F8FA4BB0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06" y="332656"/>
            <a:ext cx="805518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b="1" dirty="0"/>
              <a:t>&lt;</a:t>
            </a:r>
            <a:r>
              <a:rPr lang="en-US" altLang="ja-JP" sz="2800" b="1" dirty="0">
                <a:solidFill>
                  <a:srgbClr val="FF0000"/>
                </a:solidFill>
              </a:rPr>
              <a:t>DirectInput</a:t>
            </a:r>
            <a:r>
              <a:rPr lang="en-US" altLang="ja-JP" sz="2800" b="1" dirty="0"/>
              <a:t>&gt;</a:t>
            </a:r>
            <a:br>
              <a:rPr lang="en-US" altLang="ja-JP" sz="2800" b="1" dirty="0"/>
            </a:br>
            <a:r>
              <a:rPr lang="ja-JP" altLang="en-US" sz="2800" b="1" dirty="0"/>
              <a:t>　先に生み出された方式で、その当時はアナログ</a:t>
            </a:r>
            <a:br>
              <a:rPr lang="en-US" altLang="ja-JP" sz="2800" b="1" dirty="0"/>
            </a:br>
            <a:r>
              <a:rPr lang="ja-JP" altLang="en-US" sz="2800" b="1" dirty="0"/>
              <a:t>　スティックが二つあるようなコントローラが無かった</a:t>
            </a:r>
            <a:br>
              <a:rPr lang="en-US" altLang="ja-JP" sz="2800" b="1" dirty="0"/>
            </a:br>
            <a:r>
              <a:rPr lang="ja-JP" altLang="en-US" sz="2800" b="1" dirty="0"/>
              <a:t>　ため、</a:t>
            </a:r>
            <a:r>
              <a:rPr lang="ja-JP" altLang="en-US" sz="2800" b="1" dirty="0">
                <a:solidFill>
                  <a:srgbClr val="7030A0"/>
                </a:solidFill>
              </a:rPr>
              <a:t>右スティックは非対応</a:t>
            </a:r>
            <a:r>
              <a:rPr lang="ja-JP" altLang="en-US" sz="2800" b="1" dirty="0"/>
              <a:t>。</a:t>
            </a:r>
            <a:br>
              <a:rPr lang="en-US" altLang="ja-JP" sz="2800" b="1" dirty="0"/>
            </a:br>
            <a:r>
              <a:rPr lang="ja-JP" altLang="en-US" sz="2800" b="1" dirty="0"/>
              <a:t>　接続には設定が必要の場合もあったり、大変。</a:t>
            </a:r>
            <a:endParaRPr lang="en-US" altLang="ja-JP" sz="2800" b="1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FB6D016-FEAD-4E23-A213-74199F6F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06" y="3068960"/>
            <a:ext cx="805518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b="1" dirty="0"/>
              <a:t>&lt;</a:t>
            </a:r>
            <a:r>
              <a:rPr lang="en-US" altLang="ja-JP" sz="2800" b="1" dirty="0" err="1">
                <a:solidFill>
                  <a:srgbClr val="0000FF"/>
                </a:solidFill>
              </a:rPr>
              <a:t>XInput</a:t>
            </a:r>
            <a:r>
              <a:rPr lang="en-US" altLang="ja-JP" sz="2800" b="1" dirty="0"/>
              <a:t>&gt;</a:t>
            </a:r>
            <a:br>
              <a:rPr lang="en-US" altLang="ja-JP" sz="2800" b="1" dirty="0"/>
            </a:br>
            <a:r>
              <a:rPr lang="ja-JP" altLang="en-US" sz="2800" b="1" dirty="0"/>
              <a:t>　後から生み出された方式で、</a:t>
            </a:r>
            <a:r>
              <a:rPr lang="en-US" altLang="ja-JP" sz="2800" b="1" dirty="0"/>
              <a:t>XBox360</a:t>
            </a:r>
            <a:r>
              <a:rPr lang="ja-JP" altLang="en-US" sz="2800" b="1" dirty="0"/>
              <a:t>コントローラ</a:t>
            </a:r>
            <a:br>
              <a:rPr lang="en-US" altLang="ja-JP" sz="2800" b="1" dirty="0"/>
            </a:br>
            <a:r>
              <a:rPr lang="ja-JP" altLang="en-US" sz="2800" b="1" dirty="0"/>
              <a:t>　のために作られた。</a:t>
            </a:r>
            <a:br>
              <a:rPr lang="en-US" altLang="ja-JP" sz="2800" b="1" dirty="0"/>
            </a:br>
            <a:r>
              <a:rPr lang="ja-JP" altLang="en-US" sz="2800" b="1" dirty="0"/>
              <a:t>　</a:t>
            </a:r>
            <a:r>
              <a:rPr lang="en-US" altLang="ja-JP" sz="2800" b="1" dirty="0">
                <a:solidFill>
                  <a:srgbClr val="FF66CC"/>
                </a:solidFill>
              </a:rPr>
              <a:t>DirectInput</a:t>
            </a:r>
            <a:r>
              <a:rPr lang="ja-JP" altLang="en-US" sz="2800" b="1" dirty="0">
                <a:solidFill>
                  <a:srgbClr val="FF66CC"/>
                </a:solidFill>
              </a:rPr>
              <a:t>の後継ではない</a:t>
            </a:r>
            <a:r>
              <a:rPr lang="ja-JP" altLang="en-US" sz="2800" b="1" dirty="0"/>
              <a:t>ので、互換性が無い。</a:t>
            </a:r>
            <a:br>
              <a:rPr lang="en-US" altLang="ja-JP" sz="2800" b="1" dirty="0"/>
            </a:br>
            <a:r>
              <a:rPr lang="ja-JP" altLang="en-US" sz="2800" b="1" dirty="0"/>
              <a:t>　最近の</a:t>
            </a:r>
            <a:r>
              <a:rPr lang="en-US" altLang="ja-JP" sz="2800" b="1" dirty="0"/>
              <a:t>PC</a:t>
            </a:r>
            <a:r>
              <a:rPr lang="ja-JP" altLang="en-US" sz="2800" b="1" dirty="0"/>
              <a:t>コントローラの主流ではあるが、</a:t>
            </a:r>
            <a:br>
              <a:rPr lang="en-US" altLang="ja-JP" sz="2800" b="1" dirty="0"/>
            </a:br>
            <a:r>
              <a:rPr lang="ja-JP" altLang="en-US" sz="2800" b="1" dirty="0"/>
              <a:t>　</a:t>
            </a:r>
            <a:r>
              <a:rPr lang="en-US" altLang="ja-JP" sz="2800" b="1" dirty="0">
                <a:solidFill>
                  <a:srgbClr val="7030A0"/>
                </a:solidFill>
              </a:rPr>
              <a:t>XBox360</a:t>
            </a:r>
            <a:r>
              <a:rPr lang="ja-JP" altLang="en-US" sz="2800" b="1" dirty="0">
                <a:solidFill>
                  <a:srgbClr val="7030A0"/>
                </a:solidFill>
              </a:rPr>
              <a:t>コントローラのボタン数以上は反応せず</a:t>
            </a:r>
            <a:br>
              <a:rPr lang="en-US" altLang="ja-JP" sz="2800" b="1" dirty="0">
                <a:solidFill>
                  <a:srgbClr val="7030A0"/>
                </a:solidFill>
              </a:rPr>
            </a:br>
            <a:r>
              <a:rPr lang="ja-JP" altLang="en-US" sz="2800" b="1" dirty="0">
                <a:solidFill>
                  <a:srgbClr val="7030A0"/>
                </a:solidFill>
              </a:rPr>
              <a:t>　同時接続も４個まで</a:t>
            </a:r>
            <a:r>
              <a:rPr lang="ja-JP" altLang="en-US" sz="2800" b="1" dirty="0"/>
              <a:t>といった制限がある。</a:t>
            </a:r>
            <a:endParaRPr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302034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348880"/>
            <a:ext cx="770485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実際に自分で確認してほしいが、基本的には</a:t>
            </a:r>
            <a:br>
              <a:rPr lang="en-US" altLang="ja-JP" sz="2263" b="1" dirty="0"/>
            </a:br>
            <a:r>
              <a:rPr lang="en-US" altLang="ja-JP" sz="2263" b="1" dirty="0">
                <a:solidFill>
                  <a:srgbClr val="FF0000"/>
                </a:solidFill>
              </a:rPr>
              <a:t>DirectInput</a:t>
            </a:r>
            <a:r>
              <a:rPr lang="ja-JP" altLang="en-US" sz="2263" b="1" dirty="0"/>
              <a:t>方式に対応している。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1187624" y="764704"/>
            <a:ext cx="4392488" cy="1137043"/>
          </a:xfrm>
          <a:prstGeom prst="wedgeRoundRectCallout">
            <a:avLst>
              <a:gd name="adj1" fmla="val 61809"/>
              <a:gd name="adj2" fmla="val -689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なんだか話がややこしくなってきたな。</a:t>
            </a:r>
            <a:br>
              <a:rPr lang="en-US" altLang="ja-JP" sz="2000" b="1" dirty="0"/>
            </a:br>
            <a:r>
              <a:rPr lang="en-US" altLang="ja-JP" sz="2000" b="1" dirty="0" err="1"/>
              <a:t>GetJoypadInputState</a:t>
            </a:r>
            <a:r>
              <a:rPr lang="ja-JP" altLang="en-US" sz="2000" b="1" dirty="0"/>
              <a:t>関数は</a:t>
            </a:r>
            <a:br>
              <a:rPr lang="en-US" altLang="ja-JP" sz="2000" b="1" dirty="0"/>
            </a:br>
            <a:r>
              <a:rPr lang="ja-JP" altLang="en-US" sz="2000" b="1" dirty="0"/>
              <a:t>どっちの方式対応なの？</a:t>
            </a:r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BEAC83A6-6F8D-4900-BA40-F5E5B3C76E04}"/>
              </a:ext>
            </a:extLst>
          </p:cNvPr>
          <p:cNvSpPr/>
          <p:nvPr/>
        </p:nvSpPr>
        <p:spPr>
          <a:xfrm>
            <a:off x="3743908" y="3429620"/>
            <a:ext cx="4680520" cy="1098086"/>
          </a:xfrm>
          <a:prstGeom prst="wedgeRoundRectCallout">
            <a:avLst>
              <a:gd name="adj1" fmla="val -61814"/>
              <a:gd name="adj2" fmla="val -1666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うーん、古いタイプの方なのか・・・</a:t>
            </a:r>
            <a:br>
              <a:rPr lang="en-US" altLang="ja-JP" sz="2000" b="1" dirty="0"/>
            </a:br>
            <a:r>
              <a:rPr lang="ja-JP" altLang="en-US" sz="2000" b="1" dirty="0"/>
              <a:t>最近の主流が</a:t>
            </a:r>
            <a:r>
              <a:rPr lang="en-US" altLang="ja-JP" sz="2000" b="1" dirty="0" err="1"/>
              <a:t>Xinput</a:t>
            </a:r>
            <a:r>
              <a:rPr lang="ja-JP" altLang="en-US" sz="2000" b="1" dirty="0"/>
              <a:t>なら、</a:t>
            </a:r>
            <a:br>
              <a:rPr lang="en-US" altLang="ja-JP" sz="2000" b="1" dirty="0"/>
            </a:br>
            <a:r>
              <a:rPr lang="ja-JP" altLang="en-US" sz="2000" b="1" dirty="0"/>
              <a:t>そっちだけで対応でもいいんじゃない？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DD927FA7-B5A5-4869-9131-E4CF6F9B2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16" y="4869160"/>
            <a:ext cx="770485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PC</a:t>
            </a:r>
            <a:r>
              <a:rPr lang="ja-JP" altLang="en-US" sz="2263" b="1" dirty="0"/>
              <a:t>向けコントローラで遊ぶ予定であれば、</a:t>
            </a:r>
            <a:br>
              <a:rPr lang="en-US" altLang="ja-JP" sz="2263" b="1" dirty="0"/>
            </a:br>
            <a:r>
              <a:rPr lang="en-US" altLang="ja-JP" sz="2263" b="1" dirty="0" err="1"/>
              <a:t>XInput</a:t>
            </a:r>
            <a:r>
              <a:rPr lang="ja-JP" altLang="en-US" sz="2263" b="1" dirty="0"/>
              <a:t>方式のみの対応でほぼ問題ない。</a:t>
            </a:r>
            <a:br>
              <a:rPr lang="en-US" altLang="ja-JP" sz="2263" b="1" dirty="0"/>
            </a:br>
            <a:r>
              <a:rPr lang="ja-JP" altLang="en-US" sz="2263" b="1" dirty="0"/>
              <a:t>が、</a:t>
            </a:r>
            <a:r>
              <a:rPr lang="en-US" altLang="ja-JP" sz="2263" b="1" dirty="0">
                <a:solidFill>
                  <a:srgbClr val="0000FF"/>
                </a:solidFill>
              </a:rPr>
              <a:t>PS4</a:t>
            </a:r>
            <a:r>
              <a:rPr lang="ja-JP" altLang="en-US" sz="2263" b="1" dirty="0"/>
              <a:t>や</a:t>
            </a:r>
            <a:r>
              <a:rPr lang="en-US" altLang="ja-JP" sz="2263" b="1" dirty="0">
                <a:solidFill>
                  <a:srgbClr val="0000FF"/>
                </a:solidFill>
              </a:rPr>
              <a:t>PS5</a:t>
            </a:r>
            <a:r>
              <a:rPr lang="ja-JP" altLang="en-US" sz="2263" b="1" dirty="0" err="1"/>
              <a:t>、</a:t>
            </a:r>
            <a:r>
              <a:rPr lang="en-US" altLang="ja-JP" sz="2263" b="1" dirty="0" err="1">
                <a:solidFill>
                  <a:srgbClr val="0000FF"/>
                </a:solidFill>
              </a:rPr>
              <a:t>NintendoSwitch</a:t>
            </a:r>
            <a:r>
              <a:rPr lang="ja-JP" altLang="en-US" sz="2263" b="1" dirty="0"/>
              <a:t>のコントローラは</a:t>
            </a:r>
            <a:br>
              <a:rPr lang="en-US" altLang="ja-JP" sz="2263" b="1" dirty="0"/>
            </a:br>
            <a:r>
              <a:rPr lang="en-US" altLang="ja-JP" sz="2263" b="1" dirty="0">
                <a:solidFill>
                  <a:srgbClr val="FF0000"/>
                </a:solidFill>
              </a:rPr>
              <a:t>DirectInput</a:t>
            </a:r>
            <a:r>
              <a:rPr lang="ja-JP" altLang="en-US" sz="2263" b="1" dirty="0">
                <a:solidFill>
                  <a:srgbClr val="FF0000"/>
                </a:solidFill>
              </a:rPr>
              <a:t>方式で反応する</a:t>
            </a:r>
            <a:r>
              <a:rPr lang="ja-JP" altLang="en-US" sz="2263" b="1" dirty="0"/>
              <a:t>ために注意が必要！！</a:t>
            </a:r>
          </a:p>
        </p:txBody>
      </p:sp>
      <p:pic>
        <p:nvPicPr>
          <p:cNvPr id="2050" name="Picture 2" descr="勉強が分からない男の子のイラスト">
            <a:extLst>
              <a:ext uri="{FF2B5EF4-FFF2-40B4-BE49-F238E27FC236}">
                <a16:creationId xmlns:a16="http://schemas.microsoft.com/office/drawing/2014/main" id="{E7774E82-C9D5-419A-82DF-BADB86DC4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696" y="83840"/>
            <a:ext cx="2121024" cy="21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困った顔で働く会社員のイラスト（女性）">
            <a:extLst>
              <a:ext uri="{FF2B5EF4-FFF2-40B4-BE49-F238E27FC236}">
                <a16:creationId xmlns:a16="http://schemas.microsoft.com/office/drawing/2014/main" id="{B497A4D5-ED11-4B42-94B3-C2EE91430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868" y="296416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84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348880"/>
            <a:ext cx="770485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何とも困ったことに、各社が勝手に</a:t>
            </a:r>
            <a:br>
              <a:rPr lang="en-US" altLang="ja-JP" sz="2263" b="1" dirty="0"/>
            </a:br>
            <a:r>
              <a:rPr lang="en-US" altLang="ja-JP" sz="2263" b="1" dirty="0"/>
              <a:t>DirectInput</a:t>
            </a:r>
            <a:r>
              <a:rPr lang="ja-JP" altLang="en-US" sz="2263" b="1" dirty="0"/>
              <a:t>の情報の中から、</a:t>
            </a:r>
            <a:r>
              <a:rPr lang="ja-JP" altLang="en-US" sz="2263" b="1" dirty="0">
                <a:solidFill>
                  <a:srgbClr val="7030A0"/>
                </a:solidFill>
              </a:rPr>
              <a:t>使っていない変数を</a:t>
            </a:r>
            <a:br>
              <a:rPr lang="en-US" altLang="ja-JP" sz="2263" b="1" dirty="0">
                <a:solidFill>
                  <a:srgbClr val="7030A0"/>
                </a:solidFill>
              </a:rPr>
            </a:br>
            <a:r>
              <a:rPr lang="ja-JP" altLang="en-US" sz="2263" b="1" dirty="0">
                <a:solidFill>
                  <a:srgbClr val="7030A0"/>
                </a:solidFill>
              </a:rPr>
              <a:t>右スティック情報に割り当てて対応</a:t>
            </a:r>
            <a:r>
              <a:rPr lang="ja-JP" altLang="en-US" sz="2263" b="1" dirty="0"/>
              <a:t>しているという状態。</a:t>
            </a:r>
            <a:br>
              <a:rPr lang="en-US" altLang="ja-JP" sz="2263" b="1" dirty="0"/>
            </a:br>
            <a:r>
              <a:rPr lang="ja-JP" altLang="en-US" sz="2263" b="1" dirty="0"/>
              <a:t>この辺りは自分で解析が必要となる。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827584" y="888586"/>
            <a:ext cx="4968552" cy="1137043"/>
          </a:xfrm>
          <a:prstGeom prst="wedgeRoundRectCallout">
            <a:avLst>
              <a:gd name="adj1" fmla="val 61738"/>
              <a:gd name="adj2" fmla="val -2699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え？ちょっと待って！</a:t>
            </a:r>
            <a:br>
              <a:rPr lang="en-US" altLang="ja-JP" sz="2000" b="1" dirty="0"/>
            </a:br>
            <a:r>
              <a:rPr lang="en-US" altLang="ja-JP" sz="2000" b="1" dirty="0"/>
              <a:t>PS</a:t>
            </a:r>
            <a:r>
              <a:rPr lang="ja-JP" altLang="en-US" sz="2000" b="1" dirty="0"/>
              <a:t>コントローラって右スティックあるよね。</a:t>
            </a:r>
            <a:br>
              <a:rPr lang="en-US" altLang="ja-JP" sz="2000" b="1" dirty="0"/>
            </a:br>
            <a:r>
              <a:rPr lang="ja-JP" altLang="en-US" sz="2000" b="1" dirty="0"/>
              <a:t>対応していないはずでは？</a:t>
            </a:r>
          </a:p>
        </p:txBody>
      </p:sp>
      <p:sp>
        <p:nvSpPr>
          <p:cNvPr id="9" name="角丸四角形吹き出し 13">
            <a:extLst>
              <a:ext uri="{FF2B5EF4-FFF2-40B4-BE49-F238E27FC236}">
                <a16:creationId xmlns:a16="http://schemas.microsoft.com/office/drawing/2014/main" id="{FE100834-DF69-4D1C-98C3-954496FDBC4F}"/>
              </a:ext>
            </a:extLst>
          </p:cNvPr>
          <p:cNvSpPr/>
          <p:nvPr/>
        </p:nvSpPr>
        <p:spPr>
          <a:xfrm>
            <a:off x="3923928" y="4480659"/>
            <a:ext cx="4968552" cy="1137043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詳細は</a:t>
            </a:r>
            <a:r>
              <a:rPr lang="en-US" altLang="ja-JP" sz="2000" b="1" dirty="0" err="1"/>
              <a:t>DxLib</a:t>
            </a:r>
            <a:r>
              <a:rPr lang="ja-JP" altLang="en-US" sz="2000" b="1" dirty="0"/>
              <a:t>のホームページにある</a:t>
            </a:r>
            <a:br>
              <a:rPr lang="en-US" altLang="ja-JP" sz="2000" b="1" dirty="0"/>
            </a:br>
            <a:r>
              <a:rPr lang="en-US" altLang="ja-JP" sz="2000" b="1" dirty="0" err="1"/>
              <a:t>GetJoypadDirectInputState</a:t>
            </a:r>
            <a:r>
              <a:rPr lang="ja-JP" altLang="en-US" sz="2000" b="1" dirty="0"/>
              <a:t>関数の</a:t>
            </a:r>
            <a:br>
              <a:rPr lang="en-US" altLang="ja-JP" sz="2000" b="1" dirty="0"/>
            </a:br>
            <a:r>
              <a:rPr lang="ja-JP" altLang="en-US" sz="2000" b="1" dirty="0"/>
              <a:t>項目を読んでみよう。</a:t>
            </a:r>
          </a:p>
        </p:txBody>
      </p:sp>
      <p:pic>
        <p:nvPicPr>
          <p:cNvPr id="3074" name="Picture 2" descr="エイプリルフールに驚く女性のイラスト">
            <a:extLst>
              <a:ext uri="{FF2B5EF4-FFF2-40B4-BE49-F238E27FC236}">
                <a16:creationId xmlns:a16="http://schemas.microsoft.com/office/drawing/2014/main" id="{308D10D4-A3C0-42E6-9517-5DB38E994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946" y="169664"/>
            <a:ext cx="1833454" cy="2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パソコンに熱中する人のイラスト（男性）">
            <a:extLst>
              <a:ext uri="{FF2B5EF4-FFF2-40B4-BE49-F238E27FC236}">
                <a16:creationId xmlns:a16="http://schemas.microsoft.com/office/drawing/2014/main" id="{A272C6E0-D89C-437B-9DE7-9A8430DB0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552905"/>
            <a:ext cx="2340213" cy="212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38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060848"/>
            <a:ext cx="770485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就職作品を作る際に考えられる対応パターンは</a:t>
            </a:r>
            <a:br>
              <a:rPr lang="en-US" altLang="ja-JP" sz="2263" b="1" dirty="0"/>
            </a:br>
            <a:r>
              <a:rPr lang="ja-JP" altLang="en-US" sz="2263" b="1" dirty="0"/>
              <a:t>以下の通りとなる。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3455876" y="1142746"/>
            <a:ext cx="4968552" cy="684076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え？これってどうやって収拾つけるの・・・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C94899C-0DCB-4CAC-8066-D903F47BD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5460309"/>
            <a:ext cx="7704856" cy="1137043"/>
          </a:xfrm>
          <a:prstGeom prst="rect">
            <a:avLst/>
          </a:prstGeom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③両方式に対応させておくが、ボタン配置などは</a:t>
            </a:r>
            <a:br>
              <a:rPr lang="en-US" altLang="ja-JP" sz="2263" b="1" dirty="0"/>
            </a:br>
            <a:r>
              <a:rPr lang="ja-JP" altLang="en-US" sz="2263" b="1" dirty="0"/>
              <a:t>キーコンフィグ画面をオプションに用意しておき</a:t>
            </a:r>
            <a:br>
              <a:rPr lang="en-US" altLang="ja-JP" sz="2263" b="1" dirty="0"/>
            </a:br>
            <a:r>
              <a:rPr lang="ja-JP" altLang="en-US" sz="2263" b="1" dirty="0"/>
              <a:t>ユーザーが変更できるようにしておく。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78C78CF9-7AC2-40BB-BEB0-27D6182E2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[DirectInput</a:t>
            </a:r>
            <a:r>
              <a:rPr lang="ja-JP" altLang="en-US" sz="2250" b="1" dirty="0"/>
              <a:t>と</a:t>
            </a:r>
            <a:r>
              <a:rPr lang="en-US" altLang="ja-JP" sz="2250" b="1" dirty="0" err="1"/>
              <a:t>Xinput</a:t>
            </a:r>
            <a:r>
              <a:rPr lang="ja-JP" altLang="en-US" sz="2250" b="1" dirty="0"/>
              <a:t>の対応方法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54BF83B0-6E83-49A6-8405-39CF60A3C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3012037"/>
            <a:ext cx="7704856" cy="1137043"/>
          </a:xfrm>
          <a:prstGeom prst="rect">
            <a:avLst/>
          </a:prstGeom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</a:t>
            </a:r>
            <a:r>
              <a:rPr lang="en-US" altLang="ja-JP" sz="2263" b="1" dirty="0"/>
              <a:t>PC</a:t>
            </a:r>
            <a:r>
              <a:rPr lang="ja-JP" altLang="en-US" sz="2263" b="1" dirty="0"/>
              <a:t>コントローラで遊ぶ可能性が高いと信じて</a:t>
            </a:r>
            <a:br>
              <a:rPr lang="en-US" altLang="ja-JP" sz="2263" b="1" dirty="0"/>
            </a:br>
            <a:r>
              <a:rPr lang="en-US" altLang="ja-JP" sz="2263" b="1" dirty="0" err="1"/>
              <a:t>Xinput</a:t>
            </a:r>
            <a:r>
              <a:rPr lang="ja-JP" altLang="en-US" sz="2263" b="1" dirty="0"/>
              <a:t>方式のみ対応させておく。</a:t>
            </a:r>
            <a:br>
              <a:rPr lang="en-US" altLang="ja-JP" sz="2263" b="1" dirty="0"/>
            </a:br>
            <a:r>
              <a:rPr lang="ja-JP" altLang="en-US" sz="2263" b="1" dirty="0"/>
              <a:t>説明書には</a:t>
            </a:r>
            <a:r>
              <a:rPr lang="en-US" altLang="ja-JP" sz="2263" b="1" dirty="0"/>
              <a:t>DirectX(</a:t>
            </a:r>
            <a:r>
              <a:rPr lang="en-US" altLang="ja-JP" sz="2263" b="1" dirty="0" err="1"/>
              <a:t>PS,Switch</a:t>
            </a:r>
            <a:r>
              <a:rPr lang="en-US" altLang="ja-JP" sz="2263" b="1" dirty="0"/>
              <a:t>)</a:t>
            </a:r>
            <a:r>
              <a:rPr lang="ja-JP" altLang="en-US" sz="2263" b="1" dirty="0"/>
              <a:t>コントローラ未対応と記述。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F153C5E6-97C6-421A-9F90-5E069F2F5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4236173"/>
            <a:ext cx="7704856" cy="113704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②両方式に対応させておく。</a:t>
            </a:r>
            <a:br>
              <a:rPr lang="en-US" altLang="ja-JP" sz="2263" b="1" dirty="0"/>
            </a:br>
            <a:r>
              <a:rPr lang="ja-JP" altLang="en-US" sz="2263" b="1" dirty="0"/>
              <a:t>ただし、</a:t>
            </a:r>
            <a:r>
              <a:rPr lang="en-US" altLang="ja-JP" sz="2263" b="1" dirty="0"/>
              <a:t>DirectInput</a:t>
            </a:r>
            <a:r>
              <a:rPr lang="ja-JP" altLang="en-US" sz="2263" b="1" dirty="0"/>
              <a:t>方式は</a:t>
            </a:r>
            <a:r>
              <a:rPr lang="en-US" altLang="ja-JP" sz="2263" b="1" dirty="0"/>
              <a:t>PS4,PS5</a:t>
            </a:r>
            <a:r>
              <a:rPr lang="ja-JP" altLang="en-US" sz="2263" b="1" dirty="0"/>
              <a:t>コントローラを</a:t>
            </a:r>
            <a:br>
              <a:rPr lang="en-US" altLang="ja-JP" sz="2263" b="1" dirty="0"/>
            </a:br>
            <a:r>
              <a:rPr lang="ja-JP" altLang="en-US" sz="2263" b="1" dirty="0"/>
              <a:t>想定しておく。</a:t>
            </a:r>
          </a:p>
        </p:txBody>
      </p:sp>
      <p:pic>
        <p:nvPicPr>
          <p:cNvPr id="4098" name="Picture 2" descr="困る表情のイラスト5（男性）">
            <a:extLst>
              <a:ext uri="{FF2B5EF4-FFF2-40B4-BE49-F238E27FC236}">
                <a16:creationId xmlns:a16="http://schemas.microsoft.com/office/drawing/2014/main" id="{FE493BDC-A7CE-46B3-A64E-DBB21085F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843402"/>
            <a:ext cx="895959" cy="121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58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464858"/>
            <a:ext cx="7704856" cy="305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66CC"/>
                </a:solidFill>
              </a:rPr>
              <a:t>①が一番実装に時間がかからないのでおススメ</a:t>
            </a:r>
            <a:r>
              <a:rPr lang="ja-JP" altLang="en-US" sz="2263" b="1" dirty="0"/>
              <a:t>。</a:t>
            </a:r>
            <a:br>
              <a:rPr lang="en-US" altLang="ja-JP" sz="2263" b="1" dirty="0"/>
            </a:br>
            <a:r>
              <a:rPr lang="ja-JP" altLang="en-US" sz="2263" b="1" dirty="0"/>
              <a:t>③が最も実装に時間がかかるため、かなり時間に余裕が</a:t>
            </a:r>
            <a:br>
              <a:rPr lang="en-US" altLang="ja-JP" sz="2263" b="1" dirty="0"/>
            </a:br>
            <a:r>
              <a:rPr lang="ja-JP" altLang="en-US" sz="2263" b="1" dirty="0"/>
              <a:t>ある人でないと難しい。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また、両方式対応の場合はパッドのクラスを分けてもいいが、</a:t>
            </a:r>
            <a:br>
              <a:rPr lang="en-US" altLang="ja-JP" sz="2263" b="1" dirty="0"/>
            </a:br>
            <a:r>
              <a:rPr lang="ja-JP" altLang="en-US" sz="2263" b="1" dirty="0"/>
              <a:t>どちらの方式を採用していても問題なく使えるような</a:t>
            </a:r>
            <a:br>
              <a:rPr lang="en-US" altLang="ja-JP" sz="2263" b="1" dirty="0"/>
            </a:br>
            <a:r>
              <a:rPr lang="ja-JP" altLang="en-US" sz="2263" b="1" dirty="0"/>
              <a:t>管理クラスを作っておくほうが良い。</a:t>
            </a:r>
            <a:br>
              <a:rPr lang="en-US" altLang="ja-JP" sz="2263" b="1" dirty="0"/>
            </a:br>
            <a:r>
              <a:rPr lang="ja-JP" altLang="en-US" sz="2263" b="1" dirty="0"/>
              <a:t>どちらの方式のコントローラを使っているかは</a:t>
            </a:r>
            <a:br>
              <a:rPr lang="en-US" altLang="ja-JP" sz="2263" b="1" dirty="0"/>
            </a:br>
            <a:r>
              <a:rPr lang="ja-JP" altLang="en-US" sz="2263" b="1" dirty="0"/>
              <a:t>「</a:t>
            </a:r>
            <a:r>
              <a:rPr lang="en-US" altLang="ja-JP" sz="2263" b="1" dirty="0">
                <a:solidFill>
                  <a:srgbClr val="FF0000"/>
                </a:solidFill>
              </a:rPr>
              <a:t>int </a:t>
            </a:r>
            <a:r>
              <a:rPr lang="en-US" altLang="ja-JP" sz="2263" b="1" dirty="0" err="1">
                <a:solidFill>
                  <a:srgbClr val="FF0000"/>
                </a:solidFill>
              </a:rPr>
              <a:t>CheckJoypadXInput</a:t>
            </a:r>
            <a:r>
              <a:rPr lang="en-US" altLang="ja-JP" sz="2263" b="1" dirty="0">
                <a:solidFill>
                  <a:srgbClr val="FF0000"/>
                </a:solidFill>
              </a:rPr>
              <a:t>( int </a:t>
            </a:r>
            <a:r>
              <a:rPr lang="en-US" altLang="ja-JP" sz="2263" b="1" dirty="0" err="1">
                <a:solidFill>
                  <a:srgbClr val="FF0000"/>
                </a:solidFill>
              </a:rPr>
              <a:t>InputType</a:t>
            </a:r>
            <a:r>
              <a:rPr lang="en-US" altLang="ja-JP" sz="2263" b="1" dirty="0">
                <a:solidFill>
                  <a:srgbClr val="FF0000"/>
                </a:solidFill>
              </a:rPr>
              <a:t> )</a:t>
            </a:r>
            <a:r>
              <a:rPr lang="ja-JP" altLang="en-US" sz="2263" b="1" dirty="0"/>
              <a:t>」を使う。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3635896" y="1052736"/>
            <a:ext cx="4968552" cy="596983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実際の所、どの方法がおススメなの？</a:t>
            </a:r>
          </a:p>
        </p:txBody>
      </p:sp>
      <p:pic>
        <p:nvPicPr>
          <p:cNvPr id="5122" name="Picture 2" descr="話し合う人たちのイラスト（女性）">
            <a:extLst>
              <a:ext uri="{FF2B5EF4-FFF2-40B4-BE49-F238E27FC236}">
                <a16:creationId xmlns:a16="http://schemas.microsoft.com/office/drawing/2014/main" id="{D430D839-85F8-4FAE-80D5-535AFF6B1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7640"/>
            <a:ext cx="19431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19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入力情報管理クラスの作成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1196752"/>
            <a:ext cx="8377913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就職作品を企業に送る場合は、複数対応が望ましい。</a:t>
            </a:r>
            <a:br>
              <a:rPr lang="en-US" altLang="ja-JP" sz="2263" b="1" dirty="0"/>
            </a:br>
            <a:r>
              <a:rPr lang="en-US" altLang="ja-JP" sz="2263" b="1" dirty="0"/>
              <a:t>(</a:t>
            </a:r>
            <a:r>
              <a:rPr lang="ja-JP" altLang="en-US" sz="2263" b="1" dirty="0"/>
              <a:t>キーボード、コントローラどちらでも反応するなど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/>
              <a:t>その際は、窓口となる管理クラスがユーザーから情報を受け取り、</a:t>
            </a:r>
            <a:br>
              <a:rPr lang="en-US" altLang="ja-JP" sz="2263" b="1" dirty="0"/>
            </a:br>
            <a:r>
              <a:rPr lang="ja-JP" altLang="en-US" sz="2263" b="1" dirty="0"/>
              <a:t>各入力デバイスクラスに押されているか確認する方式がおススメ。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4E3837D-D49F-40E3-BCFB-3E56BF5582BB}"/>
              </a:ext>
            </a:extLst>
          </p:cNvPr>
          <p:cNvSpPr/>
          <p:nvPr/>
        </p:nvSpPr>
        <p:spPr>
          <a:xfrm>
            <a:off x="3131838" y="3807600"/>
            <a:ext cx="2160240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00FF"/>
                </a:solidFill>
              </a:rPr>
              <a:t>入力クラス</a:t>
            </a:r>
            <a:br>
              <a:rPr kumimoji="1" lang="en-US" altLang="ja-JP" b="1" dirty="0">
                <a:solidFill>
                  <a:srgbClr val="0000FF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各クラスに確認。</a:t>
            </a:r>
            <a:br>
              <a:rPr kumimoji="1" lang="en-US" altLang="ja-JP" b="1" dirty="0">
                <a:solidFill>
                  <a:schemeClr val="tx1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一つでも条件を</a:t>
            </a:r>
            <a:br>
              <a:rPr kumimoji="1" lang="en-US" altLang="ja-JP" b="1" dirty="0">
                <a:solidFill>
                  <a:schemeClr val="tx1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満たしていたら</a:t>
            </a:r>
            <a:br>
              <a:rPr kumimoji="1" lang="en-US" altLang="ja-JP" b="1" dirty="0">
                <a:solidFill>
                  <a:schemeClr val="tx1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外部に返答。</a:t>
            </a:r>
            <a:endParaRPr lang="en-US" altLang="ja-JP" b="1" dirty="0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0889284-5798-49EE-8F8C-745EFC59CA8C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5292078" y="4815712"/>
            <a:ext cx="1613783" cy="424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5D72B43-7675-40FD-BD7D-A9602BF33337}"/>
              </a:ext>
            </a:extLst>
          </p:cNvPr>
          <p:cNvSpPr/>
          <p:nvPr/>
        </p:nvSpPr>
        <p:spPr>
          <a:xfrm>
            <a:off x="6906458" y="3663584"/>
            <a:ext cx="1944214" cy="46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キーボードクラス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C41C664-A5A7-4A63-89D4-39308A323A7E}"/>
              </a:ext>
            </a:extLst>
          </p:cNvPr>
          <p:cNvSpPr/>
          <p:nvPr/>
        </p:nvSpPr>
        <p:spPr>
          <a:xfrm>
            <a:off x="6905861" y="5007208"/>
            <a:ext cx="1944214" cy="46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マウスクラス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DB24710-9D8A-49E3-903F-DBB855B09D18}"/>
              </a:ext>
            </a:extLst>
          </p:cNvPr>
          <p:cNvSpPr/>
          <p:nvPr/>
        </p:nvSpPr>
        <p:spPr>
          <a:xfrm>
            <a:off x="6948264" y="6131136"/>
            <a:ext cx="1902408" cy="46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パッドクラス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6FAAEDB-5EFB-47E6-8FC8-03ABF8913C03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5292078" y="3896692"/>
            <a:ext cx="1614380" cy="9190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3E91F80-E151-4067-921D-24B23E89DE9B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5292078" y="4815712"/>
            <a:ext cx="1656186" cy="15485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ADA9E64-DC4E-4683-9352-24428844BFAF}"/>
              </a:ext>
            </a:extLst>
          </p:cNvPr>
          <p:cNvSpPr/>
          <p:nvPr/>
        </p:nvSpPr>
        <p:spPr>
          <a:xfrm>
            <a:off x="143505" y="4384402"/>
            <a:ext cx="2160240" cy="86262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プレイヤーなどの</a:t>
            </a:r>
            <a:br>
              <a:rPr kumimoji="1" lang="en-US" altLang="ja-JP" b="1" dirty="0">
                <a:solidFill>
                  <a:srgbClr val="FF0000"/>
                </a:solidFill>
              </a:rPr>
            </a:br>
            <a:r>
              <a:rPr kumimoji="1" lang="ja-JP" altLang="en-US" b="1" dirty="0">
                <a:solidFill>
                  <a:srgbClr val="FF0000"/>
                </a:solidFill>
              </a:rPr>
              <a:t>外部クラス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1CAFC03-5BEA-4195-A3E5-545F671425C1}"/>
              </a:ext>
            </a:extLst>
          </p:cNvPr>
          <p:cNvSpPr/>
          <p:nvPr/>
        </p:nvSpPr>
        <p:spPr>
          <a:xfrm>
            <a:off x="2411760" y="4437112"/>
            <a:ext cx="504056" cy="86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吹き出し 13">
            <a:extLst>
              <a:ext uri="{FF2B5EF4-FFF2-40B4-BE49-F238E27FC236}">
                <a16:creationId xmlns:a16="http://schemas.microsoft.com/office/drawing/2014/main" id="{E4532D56-ACFC-4D38-9842-273C43B9F9B9}"/>
              </a:ext>
            </a:extLst>
          </p:cNvPr>
          <p:cNvSpPr/>
          <p:nvPr/>
        </p:nvSpPr>
        <p:spPr>
          <a:xfrm>
            <a:off x="881588" y="6089612"/>
            <a:ext cx="3060343" cy="596983"/>
          </a:xfrm>
          <a:prstGeom prst="wedgeRoundRectCallout">
            <a:avLst>
              <a:gd name="adj1" fmla="val -48129"/>
              <a:gd name="adj2" fmla="val -15804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ATTACK</a:t>
            </a:r>
            <a:r>
              <a:rPr lang="ja-JP" altLang="en-US" sz="2000" b="1" dirty="0"/>
              <a:t>ボタン押した？</a:t>
            </a:r>
          </a:p>
        </p:txBody>
      </p:sp>
      <p:sp>
        <p:nvSpPr>
          <p:cNvPr id="21" name="角丸四角形吹き出し 13">
            <a:extLst>
              <a:ext uri="{FF2B5EF4-FFF2-40B4-BE49-F238E27FC236}">
                <a16:creationId xmlns:a16="http://schemas.microsoft.com/office/drawing/2014/main" id="{B172DF9B-AD95-404D-BFE4-3ADE7F0CEE2E}"/>
              </a:ext>
            </a:extLst>
          </p:cNvPr>
          <p:cNvSpPr/>
          <p:nvPr/>
        </p:nvSpPr>
        <p:spPr>
          <a:xfrm>
            <a:off x="6086115" y="3169740"/>
            <a:ext cx="1856791" cy="408359"/>
          </a:xfrm>
          <a:prstGeom prst="wedgeRoundRectCallout">
            <a:avLst>
              <a:gd name="adj1" fmla="val -47188"/>
              <a:gd name="adj2" fmla="val 16276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Z</a:t>
            </a:r>
            <a:r>
              <a:rPr lang="ja-JP" altLang="en-US" sz="2000" b="1" dirty="0"/>
              <a:t>キー押した？</a:t>
            </a:r>
          </a:p>
        </p:txBody>
      </p:sp>
      <p:sp>
        <p:nvSpPr>
          <p:cNvPr id="22" name="角丸四角形吹き出し 13">
            <a:extLst>
              <a:ext uri="{FF2B5EF4-FFF2-40B4-BE49-F238E27FC236}">
                <a16:creationId xmlns:a16="http://schemas.microsoft.com/office/drawing/2014/main" id="{805DD892-DD32-46E7-A0A8-8DBB90FA36F2}"/>
              </a:ext>
            </a:extLst>
          </p:cNvPr>
          <p:cNvSpPr/>
          <p:nvPr/>
        </p:nvSpPr>
        <p:spPr>
          <a:xfrm>
            <a:off x="6379908" y="4384402"/>
            <a:ext cx="2368556" cy="431310"/>
          </a:xfrm>
          <a:prstGeom prst="wedgeRoundRectCallout">
            <a:avLst>
              <a:gd name="adj1" fmla="val -46504"/>
              <a:gd name="adj2" fmla="val 9475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左クリック押した？</a:t>
            </a:r>
          </a:p>
        </p:txBody>
      </p:sp>
      <p:sp>
        <p:nvSpPr>
          <p:cNvPr id="24" name="角丸四角形吹き出し 13">
            <a:extLst>
              <a:ext uri="{FF2B5EF4-FFF2-40B4-BE49-F238E27FC236}">
                <a16:creationId xmlns:a16="http://schemas.microsoft.com/office/drawing/2014/main" id="{0C39B2EC-45A6-473E-A1A6-23F6F929A6F5}"/>
              </a:ext>
            </a:extLst>
          </p:cNvPr>
          <p:cNvSpPr/>
          <p:nvPr/>
        </p:nvSpPr>
        <p:spPr>
          <a:xfrm>
            <a:off x="6664086" y="5519077"/>
            <a:ext cx="2368556" cy="431310"/>
          </a:xfrm>
          <a:prstGeom prst="wedgeRoundRectCallout">
            <a:avLst>
              <a:gd name="adj1" fmla="val -46504"/>
              <a:gd name="adj2" fmla="val 9475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A</a:t>
            </a:r>
            <a:r>
              <a:rPr lang="ja-JP" altLang="en-US" sz="2000" b="1" dirty="0"/>
              <a:t>ボタン押した？</a:t>
            </a:r>
          </a:p>
        </p:txBody>
      </p:sp>
    </p:spTree>
    <p:extLst>
      <p:ext uri="{BB962C8B-B14F-4D97-AF65-F5344CB8AC3E}">
        <p14:creationId xmlns:p14="http://schemas.microsoft.com/office/powerpoint/2010/main" val="2657226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431554"/>
            <a:ext cx="8377913" cy="287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管理クラスを使うメリットとしては以下が上げられる。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①後で入力ボタンに変更があっても管理クラスの変更だけで済む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②管理クラスにメンバ変数を持たせることにより</a:t>
            </a:r>
            <a:br>
              <a:rPr lang="en-US" altLang="ja-JP" sz="2263" b="1" dirty="0"/>
            </a:br>
            <a:r>
              <a:rPr lang="ja-JP" altLang="en-US" sz="2263" b="1" dirty="0"/>
              <a:t>キーコンフィグ対応が楽になる。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③キー入力情報が散らばらない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898AF647-55C5-44EC-9828-7073BF9027F7}"/>
              </a:ext>
            </a:extLst>
          </p:cNvPr>
          <p:cNvSpPr/>
          <p:nvPr/>
        </p:nvSpPr>
        <p:spPr>
          <a:xfrm>
            <a:off x="2969820" y="4293096"/>
            <a:ext cx="5778644" cy="720080"/>
          </a:xfrm>
          <a:prstGeom prst="wedgeRoundRectCallout">
            <a:avLst>
              <a:gd name="adj1" fmla="val -59997"/>
              <a:gd name="adj2" fmla="val 5895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①と③は分かるような気もするんだけど、</a:t>
            </a:r>
            <a:br>
              <a:rPr lang="en-US" altLang="ja-JP" sz="2000" b="1" dirty="0"/>
            </a:br>
            <a:r>
              <a:rPr lang="ja-JP" altLang="en-US" sz="2000" b="1" dirty="0"/>
              <a:t>②ってどんな感じにするんだろう？</a:t>
            </a:r>
          </a:p>
        </p:txBody>
      </p:sp>
      <p:pic>
        <p:nvPicPr>
          <p:cNvPr id="6146" name="Picture 2" descr="話し合う人たちのイラスト（女性1）">
            <a:extLst>
              <a:ext uri="{FF2B5EF4-FFF2-40B4-BE49-F238E27FC236}">
                <a16:creationId xmlns:a16="http://schemas.microsoft.com/office/drawing/2014/main" id="{298DE0B4-2FEE-40D1-B642-98E0113F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293096"/>
            <a:ext cx="19431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470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0E54E48-937B-44A8-A6D9-67E002AA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547487"/>
            <a:ext cx="4824536" cy="49024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Box 5">
            <a:extLst>
              <a:ext uri="{FF2B5EF4-FFF2-40B4-BE49-F238E27FC236}">
                <a16:creationId xmlns:a16="http://schemas.microsoft.com/office/drawing/2014/main" id="{30EBC14B-18B8-4FA4-86A0-A53FD011D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431554"/>
            <a:ext cx="837791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以下の例はキーボード入力のみにはなるが、</a:t>
            </a:r>
            <a:br>
              <a:rPr lang="en-US" altLang="ja-JP" sz="2263" b="1" dirty="0"/>
            </a:br>
            <a:r>
              <a:rPr lang="ja-JP" altLang="en-US" sz="2263" b="1" dirty="0"/>
              <a:t>サンプルとして提示しておく。</a:t>
            </a:r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DC7509F7-43BD-486F-B005-87CBCC75F1F1}"/>
              </a:ext>
            </a:extLst>
          </p:cNvPr>
          <p:cNvSpPr/>
          <p:nvPr/>
        </p:nvSpPr>
        <p:spPr>
          <a:xfrm>
            <a:off x="4349080" y="1916832"/>
            <a:ext cx="4680520" cy="720080"/>
          </a:xfrm>
          <a:prstGeom prst="wedgeRoundRectCallout">
            <a:avLst>
              <a:gd name="adj1" fmla="val -59997"/>
              <a:gd name="adj2" fmla="val 5895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他のプログラムでは、この</a:t>
            </a:r>
            <a:r>
              <a:rPr lang="en-US" altLang="ja-JP" sz="2000" b="1" dirty="0" err="1"/>
              <a:t>enum</a:t>
            </a:r>
            <a:r>
              <a:rPr lang="ja-JP" altLang="en-US" sz="2000" b="1" dirty="0"/>
              <a:t>を</a:t>
            </a:r>
            <a:br>
              <a:rPr lang="en-US" altLang="ja-JP" sz="2000" b="1" dirty="0"/>
            </a:br>
            <a:r>
              <a:rPr lang="ja-JP" altLang="en-US" sz="2000" b="1" dirty="0"/>
              <a:t>指定させて使えるようにする。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8396B0D5-3D82-4E0C-8833-B64FB400E791}"/>
              </a:ext>
            </a:extLst>
          </p:cNvPr>
          <p:cNvSpPr/>
          <p:nvPr/>
        </p:nvSpPr>
        <p:spPr>
          <a:xfrm>
            <a:off x="4355976" y="5589240"/>
            <a:ext cx="4680520" cy="720080"/>
          </a:xfrm>
          <a:prstGeom prst="wedgeRoundRectCallout">
            <a:avLst>
              <a:gd name="adj1" fmla="val -59997"/>
              <a:gd name="adj2" fmla="val 5895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この関数の引数は、上記の</a:t>
            </a:r>
            <a:r>
              <a:rPr lang="en-US" altLang="ja-JP" sz="2000" b="1" dirty="0" err="1"/>
              <a:t>enum</a:t>
            </a:r>
            <a:r>
              <a:rPr lang="ja-JP" altLang="en-US" sz="2000" b="1" dirty="0"/>
              <a:t>を</a:t>
            </a:r>
            <a:br>
              <a:rPr lang="en-US" altLang="ja-JP" sz="2000" b="1" dirty="0"/>
            </a:br>
            <a:r>
              <a:rPr lang="ja-JP" altLang="en-US" sz="2000" b="1" dirty="0"/>
              <a:t>指定することになる。</a:t>
            </a:r>
          </a:p>
        </p:txBody>
      </p:sp>
    </p:spTree>
    <p:extLst>
      <p:ext uri="{BB962C8B-B14F-4D97-AF65-F5344CB8AC3E}">
        <p14:creationId xmlns:p14="http://schemas.microsoft.com/office/powerpoint/2010/main" val="2066694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31BC023-A8BC-4A2B-A87A-52298857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2" y="65832"/>
            <a:ext cx="5005324" cy="67413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角丸四角形吹き出し 13">
            <a:extLst>
              <a:ext uri="{FF2B5EF4-FFF2-40B4-BE49-F238E27FC236}">
                <a16:creationId xmlns:a16="http://schemas.microsoft.com/office/drawing/2014/main" id="{842E96E3-8F31-46C5-8FD8-1F3EF76C2535}"/>
              </a:ext>
            </a:extLst>
          </p:cNvPr>
          <p:cNvSpPr/>
          <p:nvPr/>
        </p:nvSpPr>
        <p:spPr>
          <a:xfrm>
            <a:off x="5004048" y="620688"/>
            <a:ext cx="4032448" cy="1440160"/>
          </a:xfrm>
          <a:prstGeom prst="wedgeRoundRectCallout">
            <a:avLst>
              <a:gd name="adj1" fmla="val -62517"/>
              <a:gd name="adj2" fmla="val 4660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ここで実際のキーを配列に</a:t>
            </a:r>
            <a:br>
              <a:rPr lang="en-US" altLang="ja-JP" sz="2000" b="1" dirty="0"/>
            </a:br>
            <a:r>
              <a:rPr lang="ja-JP" altLang="en-US" sz="2000" b="1" dirty="0"/>
              <a:t>セットしていく。</a:t>
            </a:r>
            <a:br>
              <a:rPr lang="en-US" altLang="ja-JP" sz="2000" b="1" dirty="0"/>
            </a:br>
            <a:r>
              <a:rPr lang="ja-JP" altLang="en-US" sz="2000" b="1" dirty="0"/>
              <a:t>キーコンフィグを作る場合は</a:t>
            </a:r>
            <a:br>
              <a:rPr lang="en-US" altLang="ja-JP" sz="2000" b="1" dirty="0"/>
            </a:br>
            <a:r>
              <a:rPr lang="ja-JP" altLang="en-US" sz="2000" b="1" dirty="0"/>
              <a:t>この変数の中身を変えるだけ。</a:t>
            </a:r>
          </a:p>
        </p:txBody>
      </p:sp>
      <p:sp>
        <p:nvSpPr>
          <p:cNvPr id="5" name="角丸四角形吹き出し 13">
            <a:extLst>
              <a:ext uri="{FF2B5EF4-FFF2-40B4-BE49-F238E27FC236}">
                <a16:creationId xmlns:a16="http://schemas.microsoft.com/office/drawing/2014/main" id="{F090383C-174F-4875-8C04-484A70B79F95}"/>
              </a:ext>
            </a:extLst>
          </p:cNvPr>
          <p:cNvSpPr/>
          <p:nvPr/>
        </p:nvSpPr>
        <p:spPr>
          <a:xfrm>
            <a:off x="3707904" y="3573016"/>
            <a:ext cx="4032448" cy="861008"/>
          </a:xfrm>
          <a:prstGeom prst="wedgeRoundRectCallout">
            <a:avLst>
              <a:gd name="adj1" fmla="val -62517"/>
              <a:gd name="adj2" fmla="val 4660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今はキーボードの更新だけだが</a:t>
            </a:r>
            <a:br>
              <a:rPr lang="en-US" altLang="ja-JP" sz="2000" b="1" dirty="0"/>
            </a:br>
            <a:r>
              <a:rPr lang="ja-JP" altLang="en-US" sz="2000" b="1" dirty="0"/>
              <a:t>パッド処理などもここで更新。</a:t>
            </a:r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E5FCDA19-E137-46D8-9AB3-AA899E17171D}"/>
              </a:ext>
            </a:extLst>
          </p:cNvPr>
          <p:cNvSpPr/>
          <p:nvPr/>
        </p:nvSpPr>
        <p:spPr>
          <a:xfrm>
            <a:off x="4860032" y="5120382"/>
            <a:ext cx="4032448" cy="1000460"/>
          </a:xfrm>
          <a:prstGeom prst="wedgeRoundRectCallout">
            <a:avLst>
              <a:gd name="adj1" fmla="val -62517"/>
              <a:gd name="adj2" fmla="val 4660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配列の中の情報を見て</a:t>
            </a:r>
            <a:br>
              <a:rPr lang="en-US" altLang="ja-JP" sz="2000" b="1" dirty="0"/>
            </a:br>
            <a:r>
              <a:rPr lang="ja-JP" altLang="en-US" sz="2000" b="1" dirty="0"/>
              <a:t>押されているか確認。</a:t>
            </a:r>
            <a:br>
              <a:rPr lang="en-US" altLang="ja-JP" sz="2000" b="1" dirty="0"/>
            </a:br>
            <a:r>
              <a:rPr lang="ja-JP" altLang="en-US" sz="2000" b="1" dirty="0"/>
              <a:t>パッドなども同時確認すると良い。</a:t>
            </a:r>
          </a:p>
        </p:txBody>
      </p:sp>
    </p:spTree>
    <p:extLst>
      <p:ext uri="{BB962C8B-B14F-4D97-AF65-F5344CB8AC3E}">
        <p14:creationId xmlns:p14="http://schemas.microsoft.com/office/powerpoint/2010/main" val="2869002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2494864"/>
            <a:ext cx="8377913" cy="3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以下の２パターンのどちらかで対応するのがおススメ。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</a:t>
            </a:r>
            <a:r>
              <a:rPr lang="ja-JP" altLang="en-US" sz="2263" b="1" dirty="0">
                <a:solidFill>
                  <a:srgbClr val="FF66CC"/>
                </a:solidFill>
              </a:rPr>
              <a:t>アナログスティックから傾きを取る前提</a:t>
            </a:r>
            <a:r>
              <a:rPr lang="ja-JP" altLang="en-US" sz="2263" b="1" dirty="0"/>
              <a:t>で関数作成。</a:t>
            </a:r>
            <a:br>
              <a:rPr lang="en-US" altLang="ja-JP" sz="2263" b="1" dirty="0"/>
            </a:br>
            <a:r>
              <a:rPr lang="ja-JP" altLang="en-US" sz="2263" b="1" dirty="0"/>
              <a:t>キーボードの方はボタンを押しただけで傾きの最大値を、</a:t>
            </a:r>
            <a:br>
              <a:rPr lang="en-US" altLang="ja-JP" sz="2263" b="1" dirty="0"/>
            </a:br>
            <a:r>
              <a:rPr lang="ja-JP" altLang="en-US" sz="2263" b="1" dirty="0"/>
              <a:t>押していない場合は傾きの最小値を返す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</a:t>
            </a:r>
            <a:r>
              <a:rPr lang="ja-JP" altLang="en-US" sz="2263" b="1" dirty="0">
                <a:solidFill>
                  <a:srgbClr val="00B0F0"/>
                </a:solidFill>
              </a:rPr>
              <a:t>キーボードから入力情報を取る前提</a:t>
            </a:r>
            <a:r>
              <a:rPr lang="ja-JP" altLang="en-US" sz="2263" b="1" dirty="0"/>
              <a:t>で関数作成。</a:t>
            </a:r>
            <a:br>
              <a:rPr lang="en-US" altLang="ja-JP" sz="2263" b="1" dirty="0"/>
            </a:br>
            <a:r>
              <a:rPr lang="ja-JP" altLang="en-US" sz="2263" b="1" dirty="0"/>
              <a:t>アナログスティックは一定以上の傾きがあった場合、</a:t>
            </a:r>
            <a:br>
              <a:rPr lang="en-US" altLang="ja-JP" sz="2263" b="1" dirty="0"/>
            </a:br>
            <a:r>
              <a:rPr lang="ja-JP" altLang="en-US" sz="2263" b="1" dirty="0"/>
              <a:t>キーを押したという判定にする。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898AF647-55C5-44EC-9828-7073BF9027F7}"/>
              </a:ext>
            </a:extLst>
          </p:cNvPr>
          <p:cNvSpPr/>
          <p:nvPr/>
        </p:nvSpPr>
        <p:spPr>
          <a:xfrm>
            <a:off x="370551" y="476672"/>
            <a:ext cx="6120680" cy="1656184"/>
          </a:xfrm>
          <a:prstGeom prst="wedgeRoundRectCallout">
            <a:avLst>
              <a:gd name="adj1" fmla="val 59934"/>
              <a:gd name="adj2" fmla="val 603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コントローラを使う場合はスティック操作もあるよね。</a:t>
            </a:r>
            <a:br>
              <a:rPr lang="en-US" altLang="ja-JP" sz="2000" b="1" dirty="0"/>
            </a:br>
            <a:r>
              <a:rPr lang="ja-JP" altLang="en-US" sz="2000" b="1" dirty="0"/>
              <a:t>スティックの場合は押したかどうかではなく</a:t>
            </a:r>
            <a:br>
              <a:rPr lang="en-US" altLang="ja-JP" sz="2000" b="1" dirty="0"/>
            </a:br>
            <a:r>
              <a:rPr lang="ja-JP" altLang="en-US" sz="2000" b="1" dirty="0"/>
              <a:t>どの方向にどれだけ傾けているかになるけど</a:t>
            </a:r>
            <a:br>
              <a:rPr lang="en-US" altLang="ja-JP" sz="2000" b="1" dirty="0"/>
            </a:br>
            <a:r>
              <a:rPr lang="ja-JP" altLang="en-US" sz="2000" b="1" dirty="0"/>
              <a:t>どうすればいいの？</a:t>
            </a:r>
          </a:p>
        </p:txBody>
      </p:sp>
      <p:pic>
        <p:nvPicPr>
          <p:cNvPr id="7170" name="Picture 2" descr="男性の表情のイラスト「疑問」">
            <a:extLst>
              <a:ext uri="{FF2B5EF4-FFF2-40B4-BE49-F238E27FC236}">
                <a16:creationId xmlns:a16="http://schemas.microsoft.com/office/drawing/2014/main" id="{55E7C8C6-E52A-4D6F-BBAA-331E40FD3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18356"/>
            <a:ext cx="1311884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11104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13167</TotalTime>
  <Words>1309</Words>
  <Application>Microsoft Office PowerPoint</Application>
  <PresentationFormat>画面に合わせる (4:3)</PresentationFormat>
  <Paragraphs>81</Paragraphs>
  <Slides>15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ＭＳ Ｐゴシック</vt:lpstr>
      <vt:lpstr>Arial</vt:lpstr>
      <vt:lpstr>Calibri</vt:lpstr>
      <vt:lpstr>標準デザイン</vt:lpstr>
      <vt:lpstr>この単元の目標</vt:lpstr>
      <vt:lpstr>2　入力周りのライブラリ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562</cp:revision>
  <dcterms:created xsi:type="dcterms:W3CDTF">2013-04-19T02:46:48Z</dcterms:created>
  <dcterms:modified xsi:type="dcterms:W3CDTF">2023-10-25T02:00:27Z</dcterms:modified>
</cp:coreProperties>
</file>