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63" r:id="rId3"/>
    <p:sldId id="424" r:id="rId4"/>
    <p:sldId id="511" r:id="rId5"/>
    <p:sldId id="512" r:id="rId6"/>
    <p:sldId id="513" r:id="rId7"/>
    <p:sldId id="514" r:id="rId8"/>
    <p:sldId id="515" r:id="rId9"/>
    <p:sldId id="504" r:id="rId10"/>
    <p:sldId id="499" r:id="rId11"/>
    <p:sldId id="516" r:id="rId12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FF0000"/>
    <a:srgbClr val="0000FF"/>
    <a:srgbClr val="99FFCC"/>
    <a:srgbClr val="99FF33"/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114" d="100"/>
          <a:sy n="114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B706637-DCFC-497F-BB89-D8E67B749BBA}" type="datetimeFigureOut">
              <a:rPr lang="ja-JP" altLang="en-US"/>
              <a:pPr>
                <a:defRPr/>
              </a:pPr>
              <a:t>2023/11/1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25A6533-C8EA-4CF0-90C3-0DEC9B8D74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01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331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536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90218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4980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69577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3737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18774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5419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9604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30382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93366-EE10-4D47-A1E9-EE7FBEB2A92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2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DD20-FFA7-4C36-A680-1856AB2F305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4983-2EE2-43D2-918C-A92BCA27C1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30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56793-D6FA-4D1D-B17A-AC8C5E89C8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89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D31D-AA26-4451-A054-CD1C265924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48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09F5B-575D-49F1-AA0D-40166D4352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86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4E60D-59DB-4E98-9EA3-CD1925070F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03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BA516-D543-47CA-8B43-B116480E19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6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37459-33D6-4C7D-B668-68D8A138A1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5471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4D0B-E5D1-406F-982B-7B2FFAB473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1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D8DA2-3599-48AE-AF70-778523510A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96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6A49AFD3-AA32-4D40-AC69-503CCE1DD8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リソース管理用ライブラリを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整理する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3</a:t>
            </a:r>
            <a:r>
              <a:rPr lang="ja-JP" altLang="en-US" sz="4000" dirty="0"/>
              <a:t>　リソース管理のライブラリ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22833" y="1484486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ゲーム中のリソース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1988840"/>
            <a:ext cx="80648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ゲームでは様々なリソースが管理されることになるが</a:t>
            </a:r>
            <a:br>
              <a:rPr lang="en-US" altLang="ja-JP" sz="2400" b="1" dirty="0"/>
            </a:br>
            <a:r>
              <a:rPr lang="ja-JP" altLang="en-US" sz="2400" b="1" dirty="0"/>
              <a:t>これを種類ごとに一括管理すると</a:t>
            </a:r>
            <a:r>
              <a:rPr lang="ja-JP" altLang="en-US" sz="2400" b="1" dirty="0">
                <a:solidFill>
                  <a:srgbClr val="FF66CC"/>
                </a:solidFill>
              </a:rPr>
              <a:t>確保・開放忘れ</a:t>
            </a:r>
            <a:r>
              <a:rPr lang="ja-JP" altLang="en-US" sz="2400" b="1" dirty="0"/>
              <a:t>が減る。</a:t>
            </a:r>
            <a:br>
              <a:rPr lang="en-US" altLang="ja-JP" sz="2400" b="1" dirty="0"/>
            </a:br>
            <a:r>
              <a:rPr lang="ja-JP" altLang="en-US" sz="2400" b="1" dirty="0"/>
              <a:t>ゲームでよく使われるリソースは以下の通り。</a:t>
            </a:r>
            <a:endParaRPr lang="en-US" altLang="ja-JP" sz="2400" b="1" dirty="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CBEF112A-7D9E-45F3-B9EE-27239A38F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492297"/>
            <a:ext cx="806489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3200" b="1" dirty="0"/>
              <a:t>①</a:t>
            </a:r>
            <a:r>
              <a:rPr lang="en-US" altLang="ja-JP" sz="3200" b="1" dirty="0"/>
              <a:t>2D</a:t>
            </a:r>
            <a:r>
              <a:rPr lang="ja-JP" altLang="en-US" sz="3200" b="1" dirty="0"/>
              <a:t>画像</a:t>
            </a:r>
            <a:br>
              <a:rPr lang="en-US" altLang="ja-JP" sz="3200" b="1" dirty="0"/>
            </a:br>
            <a:r>
              <a:rPr lang="ja-JP" altLang="en-US" sz="3200" b="1" dirty="0"/>
              <a:t>②</a:t>
            </a:r>
            <a:r>
              <a:rPr lang="en-US" altLang="ja-JP" sz="3200" b="1" dirty="0"/>
              <a:t>3D</a:t>
            </a:r>
            <a:r>
              <a:rPr lang="ja-JP" altLang="en-US" sz="3200" b="1" dirty="0"/>
              <a:t>モデル</a:t>
            </a:r>
            <a:br>
              <a:rPr lang="en-US" altLang="ja-JP" sz="3200" b="1" dirty="0"/>
            </a:br>
            <a:r>
              <a:rPr lang="ja-JP" altLang="en-US" sz="3200" b="1" dirty="0"/>
              <a:t>③音楽・効果音</a:t>
            </a:r>
            <a:br>
              <a:rPr lang="en-US" altLang="ja-JP" sz="3200" b="1" dirty="0"/>
            </a:br>
            <a:r>
              <a:rPr lang="ja-JP" altLang="en-US" sz="3200" b="1" dirty="0"/>
              <a:t>＋</a:t>
            </a:r>
            <a:br>
              <a:rPr lang="en-US" altLang="ja-JP" sz="3200" b="1" dirty="0"/>
            </a:br>
            <a:r>
              <a:rPr lang="ja-JP" altLang="en-US" sz="3200" b="1" dirty="0"/>
              <a:t>人によってはゲーム中テキストなど</a:t>
            </a:r>
            <a:endParaRPr lang="en-US" altLang="ja-JP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最低限のリソース管理機能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827584" y="1268760"/>
            <a:ext cx="5472608" cy="1137043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ん？リソース管理ってどういう事？</a:t>
            </a:r>
            <a:br>
              <a:rPr lang="en-US" altLang="ja-JP" sz="2000" b="1" dirty="0"/>
            </a:br>
            <a:r>
              <a:rPr lang="ja-JP" altLang="en-US" sz="2000" b="1" dirty="0"/>
              <a:t>ゲーム中のモデルとかはすでに表示出来てるし</a:t>
            </a:r>
            <a:br>
              <a:rPr lang="en-US" altLang="ja-JP" sz="2000" b="1" dirty="0"/>
            </a:br>
            <a:r>
              <a:rPr lang="ja-JP" altLang="en-US" sz="2000" b="1" dirty="0"/>
              <a:t>特に問題もないよ。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24F9713-5B69-43DC-A6B5-094A4B6E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996952"/>
            <a:ext cx="80648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現状では、様々な個所でロードなどが行われている。</a:t>
            </a:r>
            <a:br>
              <a:rPr lang="en-US" altLang="ja-JP" sz="2400" b="1" dirty="0"/>
            </a:br>
            <a:r>
              <a:rPr lang="ja-JP" altLang="en-US" sz="2400" b="1" dirty="0"/>
              <a:t>それを、専門のクラスで行ってしまうというだけである。</a:t>
            </a:r>
            <a:br>
              <a:rPr lang="en-US" altLang="ja-JP" sz="2400" b="1" dirty="0"/>
            </a:br>
            <a:r>
              <a:rPr lang="ja-JP" altLang="en-US" sz="2400" b="1" dirty="0"/>
              <a:t>最低限の処理に限定すると</a:t>
            </a:r>
            <a:endParaRPr lang="en-US" altLang="ja-JP" sz="2400" b="1" dirty="0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97B3323-6DCC-4EAF-88A2-D729961FF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523636"/>
            <a:ext cx="80648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3200" b="1" dirty="0"/>
              <a:t>①データの一括ロード</a:t>
            </a:r>
            <a:br>
              <a:rPr lang="en-US" altLang="ja-JP" sz="3200" b="1" dirty="0"/>
            </a:br>
            <a:r>
              <a:rPr lang="ja-JP" altLang="en-US" sz="3200" b="1" dirty="0"/>
              <a:t>②データの一括破棄</a:t>
            </a:r>
            <a:br>
              <a:rPr lang="en-US" altLang="ja-JP" sz="3200" b="1" dirty="0"/>
            </a:br>
            <a:r>
              <a:rPr lang="ja-JP" altLang="en-US" sz="3200" b="1" dirty="0"/>
              <a:t>③リソースの貸し出し</a:t>
            </a:r>
            <a:endParaRPr lang="en-US" altLang="ja-JP" sz="3200" b="1" dirty="0"/>
          </a:p>
        </p:txBody>
      </p:sp>
      <p:pic>
        <p:nvPicPr>
          <p:cNvPr id="1026" name="Picture 2" descr="おばさんの表情のイラスト「疑問」">
            <a:extLst>
              <a:ext uri="{FF2B5EF4-FFF2-40B4-BE49-F238E27FC236}">
                <a16:creationId xmlns:a16="http://schemas.microsoft.com/office/drawing/2014/main" id="{46E1AC8F-2A8A-415C-B14A-7DF0B2D4B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980728"/>
            <a:ext cx="1438735" cy="164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34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06084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なかなかリソース管理はピンと来ないので、最初だけ例を。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3635896" y="671777"/>
            <a:ext cx="4788532" cy="1137043"/>
          </a:xfrm>
          <a:prstGeom prst="wedgeRoundRectCallout">
            <a:avLst>
              <a:gd name="adj1" fmla="val -68878"/>
              <a:gd name="adj2" fmla="val -912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リソースって色々なところで使うよね。</a:t>
            </a:r>
            <a:br>
              <a:rPr lang="en-US" altLang="ja-JP" sz="2000" b="1" dirty="0"/>
            </a:br>
            <a:r>
              <a:rPr lang="ja-JP" altLang="en-US" sz="2000" b="1" dirty="0"/>
              <a:t>これはもしかして、</a:t>
            </a:r>
            <a:r>
              <a:rPr lang="ja-JP" altLang="en-US" sz="2000" b="1" dirty="0">
                <a:solidFill>
                  <a:srgbClr val="FF0000"/>
                </a:solidFill>
              </a:rPr>
              <a:t>シングルトン</a:t>
            </a:r>
            <a:r>
              <a:rPr lang="ja-JP" altLang="en-US" sz="2000" b="1" dirty="0"/>
              <a:t>の出番？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162EA65-0A67-4DEF-8464-E2B43BD8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734" y="2532002"/>
            <a:ext cx="4788532" cy="4281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AD283093-68DF-41BF-B44A-9D41E7F5F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501418"/>
            <a:ext cx="1512168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.h</a:t>
            </a:r>
            <a:r>
              <a:rPr lang="ja-JP" altLang="en-US" sz="2263" b="1" dirty="0"/>
              <a:t>ファイル</a:t>
            </a:r>
          </a:p>
        </p:txBody>
      </p:sp>
      <p:pic>
        <p:nvPicPr>
          <p:cNvPr id="2050" name="Picture 2" descr="犬のイラスト「ひらめいた顔」">
            <a:extLst>
              <a:ext uri="{FF2B5EF4-FFF2-40B4-BE49-F238E27FC236}">
                <a16:creationId xmlns:a16="http://schemas.microsoft.com/office/drawing/2014/main" id="{4432E753-4FFC-48F9-A4F1-8739457DB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369842"/>
            <a:ext cx="1404156" cy="15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96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602128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ここまででシングルトン部分は作成完了。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D283093-68DF-41BF-B44A-9D41E7F5F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60648"/>
            <a:ext cx="1872208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.</a:t>
            </a:r>
            <a:r>
              <a:rPr lang="en-US" altLang="ja-JP" sz="2263" b="1" dirty="0" err="1"/>
              <a:t>cpp</a:t>
            </a:r>
            <a:r>
              <a:rPr lang="ja-JP" altLang="en-US" sz="2263" b="1" dirty="0"/>
              <a:t>ファイル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80406A-BD56-4157-9130-DA20B00D8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24744"/>
            <a:ext cx="4104456" cy="45533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3EE536E-67E7-49C4-966A-121ABD117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202" y="980728"/>
            <a:ext cx="3440225" cy="47490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574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064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ここからは最低限のリソース管理処理。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D283093-68DF-41BF-B44A-9D41E7F5F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836712"/>
            <a:ext cx="1512168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.h</a:t>
            </a:r>
            <a:r>
              <a:rPr lang="ja-JP" altLang="en-US" sz="2263" b="1" dirty="0"/>
              <a:t>ファイル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C70D80-8924-4994-8A2A-ABA98FA52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74" y="1628801"/>
            <a:ext cx="8750253" cy="43924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804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5661248"/>
            <a:ext cx="770485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基本的には画像ハンドルをこのクラスの配列で管理する。</a:t>
            </a:r>
            <a:br>
              <a:rPr lang="en-US" altLang="ja-JP" sz="2263" b="1" dirty="0"/>
            </a:br>
            <a:r>
              <a:rPr lang="ja-JP" altLang="en-US" sz="2263" b="1" dirty="0"/>
              <a:t>結局は外部にハンドルを渡すが、</a:t>
            </a:r>
            <a:r>
              <a:rPr lang="ja-JP" altLang="en-US" sz="2263" b="1" dirty="0">
                <a:solidFill>
                  <a:srgbClr val="FF66CC"/>
                </a:solidFill>
              </a:rPr>
              <a:t>外部で破棄は不要</a:t>
            </a:r>
            <a:r>
              <a:rPr lang="ja-JP" altLang="en-US" sz="2263" b="1" dirty="0"/>
              <a:t>となる。</a:t>
            </a:r>
            <a:br>
              <a:rPr lang="en-US" altLang="ja-JP" sz="2263" b="1" dirty="0"/>
            </a:br>
            <a:r>
              <a:rPr lang="ja-JP" altLang="en-US" sz="2263" b="1" dirty="0"/>
              <a:t>また、同じ画像を</a:t>
            </a:r>
            <a:r>
              <a:rPr lang="ja-JP" altLang="en-US" sz="2263" b="1" dirty="0">
                <a:solidFill>
                  <a:srgbClr val="0070C0"/>
                </a:solidFill>
              </a:rPr>
              <a:t>重複してロード</a:t>
            </a:r>
            <a:r>
              <a:rPr lang="ja-JP" altLang="en-US" sz="2263" b="1" dirty="0"/>
              <a:t>することもない。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D283093-68DF-41BF-B44A-9D41E7F5F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60648"/>
            <a:ext cx="1872208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.</a:t>
            </a:r>
            <a:r>
              <a:rPr lang="en-US" altLang="ja-JP" sz="2263" b="1" dirty="0" err="1"/>
              <a:t>cpp</a:t>
            </a:r>
            <a:r>
              <a:rPr lang="ja-JP" altLang="en-US" sz="2263" b="1" dirty="0"/>
              <a:t>ファイル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CBB9C24-FB6F-4F4D-ABA1-48A093FA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72" y="908720"/>
            <a:ext cx="4072325" cy="4557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941F391-A966-4ADE-A689-44ECB9000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072" y="878321"/>
            <a:ext cx="3485392" cy="4606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299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0648"/>
            <a:ext cx="770485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後は画像パスを文字配列で登録しておき、</a:t>
            </a:r>
            <a:br>
              <a:rPr lang="en-US" altLang="ja-JP" sz="2263" b="1" dirty="0"/>
            </a:br>
            <a:r>
              <a:rPr lang="ja-JP" altLang="en-US" sz="2263" b="1" dirty="0"/>
              <a:t>一括ロードを行うだけで良い。</a:t>
            </a:r>
            <a:br>
              <a:rPr lang="en-US" altLang="ja-JP" sz="2263" b="1" dirty="0"/>
            </a:br>
            <a:r>
              <a:rPr lang="ja-JP" altLang="en-US" sz="2263" b="1" dirty="0"/>
              <a:t>画像パスの順番に対応した</a:t>
            </a:r>
            <a:r>
              <a:rPr lang="en-US" altLang="ja-JP" sz="2263" b="1" dirty="0" err="1"/>
              <a:t>enum</a:t>
            </a:r>
            <a:r>
              <a:rPr lang="ja-JP" altLang="en-US" sz="2263" b="1" dirty="0"/>
              <a:t>を作っておけば、</a:t>
            </a:r>
            <a:br>
              <a:rPr lang="en-US" altLang="ja-JP" sz="2263" b="1" dirty="0"/>
            </a:br>
            <a:r>
              <a:rPr lang="en-US" altLang="ja-JP" sz="2263" b="1" dirty="0" err="1"/>
              <a:t>GetHndl</a:t>
            </a:r>
            <a:r>
              <a:rPr lang="en-US" altLang="ja-JP" sz="2263" b="1" dirty="0"/>
              <a:t>()</a:t>
            </a:r>
            <a:r>
              <a:rPr lang="ja-JP" altLang="en-US" sz="2263" b="1" dirty="0"/>
              <a:t>を使いやすくなる。</a:t>
            </a:r>
            <a:endParaRPr lang="en-US" altLang="ja-JP" sz="2263" b="1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FB1DF43-26DF-4488-AB6D-48AF5749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516" y="2348880"/>
            <a:ext cx="4572948" cy="3622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E497A9C-EFDF-4AA7-92FD-450A7279C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2348665"/>
            <a:ext cx="3528392" cy="36062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286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375770"/>
            <a:ext cx="770485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タイトル画面やリザルト画面などでは</a:t>
            </a:r>
            <a:br>
              <a:rPr lang="en-US" altLang="ja-JP" sz="2263" b="1" dirty="0"/>
            </a:br>
            <a:r>
              <a:rPr lang="ja-JP" altLang="en-US" sz="2263" b="1" dirty="0"/>
              <a:t>ゲーム中の</a:t>
            </a:r>
            <a:r>
              <a:rPr lang="en-US" altLang="ja-JP" sz="2263" b="1" dirty="0"/>
              <a:t>UI</a:t>
            </a:r>
            <a:r>
              <a:rPr lang="ja-JP" altLang="en-US" sz="2263" b="1" dirty="0"/>
              <a:t>は使わない可能性も高い。</a:t>
            </a:r>
            <a:br>
              <a:rPr lang="en-US" altLang="ja-JP" sz="2263" b="1" dirty="0"/>
            </a:br>
            <a:r>
              <a:rPr lang="ja-JP" altLang="en-US" sz="2263" b="1" dirty="0"/>
              <a:t>メモリ効率を考えると、</a:t>
            </a:r>
            <a:r>
              <a:rPr lang="ja-JP" altLang="en-US" sz="2263" b="1" dirty="0">
                <a:solidFill>
                  <a:srgbClr val="FF66CC"/>
                </a:solidFill>
              </a:rPr>
              <a:t>各シーンごとに画像データを</a:t>
            </a:r>
            <a:br>
              <a:rPr lang="en-US" altLang="ja-JP" sz="2263" b="1" dirty="0">
                <a:solidFill>
                  <a:srgbClr val="FF66CC"/>
                </a:solidFill>
              </a:rPr>
            </a:br>
            <a:r>
              <a:rPr lang="ja-JP" altLang="en-US" sz="2263" b="1" dirty="0">
                <a:solidFill>
                  <a:srgbClr val="FF66CC"/>
                </a:solidFill>
              </a:rPr>
              <a:t>ロード</a:t>
            </a:r>
            <a:r>
              <a:rPr lang="ja-JP" altLang="en-US" sz="2263" b="1" dirty="0"/>
              <a:t>できるようにしておくのが無難。</a:t>
            </a:r>
            <a:endParaRPr lang="en-US" altLang="ja-JP" sz="2263" b="1" dirty="0"/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A57657F9-70CA-4D39-985B-BD83B146E035}"/>
              </a:ext>
            </a:extLst>
          </p:cNvPr>
          <p:cNvSpPr/>
          <p:nvPr/>
        </p:nvSpPr>
        <p:spPr>
          <a:xfrm>
            <a:off x="1187624" y="548680"/>
            <a:ext cx="4392488" cy="1137043"/>
          </a:xfrm>
          <a:prstGeom prst="wedgeRoundRectCallout">
            <a:avLst>
              <a:gd name="adj1" fmla="val 61809"/>
              <a:gd name="adj2" fmla="val -689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ちなみに、ゲームに使われている画像</a:t>
            </a:r>
            <a:br>
              <a:rPr lang="en-US" altLang="ja-JP" sz="2000" b="1" dirty="0"/>
            </a:br>
            <a:r>
              <a:rPr lang="ja-JP" altLang="en-US" sz="2000" b="1" dirty="0"/>
              <a:t>全てを一括ロードしなくてもいいよ。</a:t>
            </a:r>
          </a:p>
        </p:txBody>
      </p:sp>
      <p:sp>
        <p:nvSpPr>
          <p:cNvPr id="9" name="角丸四角形吹き出し 13">
            <a:extLst>
              <a:ext uri="{FF2B5EF4-FFF2-40B4-BE49-F238E27FC236}">
                <a16:creationId xmlns:a16="http://schemas.microsoft.com/office/drawing/2014/main" id="{205F7522-FB20-4CE0-A548-B3658574CEF3}"/>
              </a:ext>
            </a:extLst>
          </p:cNvPr>
          <p:cNvSpPr/>
          <p:nvPr/>
        </p:nvSpPr>
        <p:spPr>
          <a:xfrm>
            <a:off x="3707904" y="4534003"/>
            <a:ext cx="4392488" cy="1368152"/>
          </a:xfrm>
          <a:prstGeom prst="wedgeRoundRectCallout">
            <a:avLst>
              <a:gd name="adj1" fmla="val -64623"/>
              <a:gd name="adj2" fmla="val -362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また、今回のプログラムは</a:t>
            </a:r>
            <a:br>
              <a:rPr lang="en-US" altLang="ja-JP" sz="2000" b="1" dirty="0"/>
            </a:br>
            <a:r>
              <a:rPr lang="en-US" altLang="ja-JP" sz="2000" b="1" dirty="0" err="1">
                <a:solidFill>
                  <a:srgbClr val="7030A0"/>
                </a:solidFill>
              </a:rPr>
              <a:t>LoadDivGraph</a:t>
            </a:r>
            <a:r>
              <a:rPr lang="en-US" altLang="ja-JP" sz="2000" b="1" dirty="0">
                <a:solidFill>
                  <a:srgbClr val="7030A0"/>
                </a:solidFill>
              </a:rPr>
              <a:t>()</a:t>
            </a:r>
            <a:r>
              <a:rPr lang="ja-JP" altLang="en-US" sz="2000" b="1" dirty="0">
                <a:solidFill>
                  <a:srgbClr val="7030A0"/>
                </a:solidFill>
              </a:rPr>
              <a:t>に未対応</a:t>
            </a:r>
            <a:r>
              <a:rPr lang="ja-JP" altLang="en-US" sz="2000" b="1" dirty="0"/>
              <a:t>です。</a:t>
            </a:r>
            <a:br>
              <a:rPr lang="en-US" altLang="ja-JP" sz="2000" b="1" dirty="0"/>
            </a:br>
            <a:r>
              <a:rPr lang="ja-JP" altLang="en-US" sz="2000" b="1" dirty="0"/>
              <a:t>アニメーションする画像などは</a:t>
            </a:r>
            <a:br>
              <a:rPr lang="en-US" altLang="ja-JP" sz="2000" b="1" dirty="0"/>
            </a:br>
            <a:r>
              <a:rPr lang="ja-JP" altLang="en-US" sz="2000" b="1" dirty="0"/>
              <a:t>もう少し工夫が必要になります。</a:t>
            </a:r>
          </a:p>
        </p:txBody>
      </p:sp>
      <p:pic>
        <p:nvPicPr>
          <p:cNvPr id="3074" name="Picture 2" descr="オッケーサインを出す馬のイラスト（午年）">
            <a:extLst>
              <a:ext uri="{FF2B5EF4-FFF2-40B4-BE49-F238E27FC236}">
                <a16:creationId xmlns:a16="http://schemas.microsoft.com/office/drawing/2014/main" id="{690CD184-73B6-4AD5-A76E-8152CCCF3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521386"/>
            <a:ext cx="1270954" cy="168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心配している人のイラスト（中年男性）">
            <a:extLst>
              <a:ext uri="{FF2B5EF4-FFF2-40B4-BE49-F238E27FC236}">
                <a16:creationId xmlns:a16="http://schemas.microsoft.com/office/drawing/2014/main" id="{E8C653CE-1CB8-4E0B-A76B-9733DE330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221088"/>
            <a:ext cx="1584176" cy="193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845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[3D</a:t>
            </a:r>
            <a:r>
              <a:rPr lang="ja-JP" altLang="en-US" sz="2250" b="1" dirty="0"/>
              <a:t>モデルのリソース管理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2834933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0" b="1" dirty="0"/>
              <a:t>3D</a:t>
            </a:r>
            <a:r>
              <a:rPr lang="ja-JP" altLang="en-US" sz="2260" b="1" dirty="0"/>
              <a:t>モデルの場合は同じハンドルは使いまわさず</a:t>
            </a:r>
            <a:br>
              <a:rPr lang="en-US" altLang="ja-JP" sz="2260" b="1" dirty="0"/>
            </a:br>
            <a:r>
              <a:rPr lang="en-US" altLang="ja-JP" sz="2260" b="1" dirty="0">
                <a:solidFill>
                  <a:srgbClr val="FF66CC"/>
                </a:solidFill>
              </a:rPr>
              <a:t>MV1DuplicateModel()</a:t>
            </a:r>
            <a:r>
              <a:rPr lang="ja-JP" altLang="en-US" sz="2260" b="1" dirty="0">
                <a:solidFill>
                  <a:srgbClr val="FF66CC"/>
                </a:solidFill>
              </a:rPr>
              <a:t>関数</a:t>
            </a:r>
            <a:r>
              <a:rPr lang="ja-JP" altLang="en-US" sz="2260" b="1" dirty="0"/>
              <a:t>を使って複製ハンドルを作る。</a:t>
            </a:r>
            <a:br>
              <a:rPr lang="en-US" altLang="ja-JP" sz="2260" b="1" dirty="0"/>
            </a:br>
            <a:r>
              <a:rPr lang="ja-JP" altLang="en-US" sz="2260" b="1" dirty="0"/>
              <a:t>そのため、下記のようなアルゴリズムが必要となる。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331640" y="1096865"/>
            <a:ext cx="4094143" cy="1137043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3D</a:t>
            </a:r>
            <a:r>
              <a:rPr lang="ja-JP" altLang="en-US" sz="2000" b="1" dirty="0"/>
              <a:t>モデルも同じ作り方でやっても</a:t>
            </a:r>
            <a:br>
              <a:rPr lang="en-US" altLang="ja-JP" sz="2000" b="1" dirty="0"/>
            </a:br>
            <a:r>
              <a:rPr lang="ja-JP" altLang="en-US" sz="2000" b="1" dirty="0"/>
              <a:t>大丈夫だよね？</a:t>
            </a:r>
          </a:p>
        </p:txBody>
      </p:sp>
      <p:pic>
        <p:nvPicPr>
          <p:cNvPr id="1026" name="Picture 2" descr="話し合う人たちのイラスト（女性1）">
            <a:extLst>
              <a:ext uri="{FF2B5EF4-FFF2-40B4-BE49-F238E27FC236}">
                <a16:creationId xmlns:a16="http://schemas.microsoft.com/office/drawing/2014/main" id="{129955D0-F729-481B-B994-D985CC3EE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69193"/>
            <a:ext cx="19431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6B4FB475-8B9B-4275-BF5B-5BF97903B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51" y="4221088"/>
            <a:ext cx="8377913" cy="1833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①ベースとなるモデルをロードしておく。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②外部からハンドルのリクエスト要求が来たら</a:t>
            </a:r>
            <a:br>
              <a:rPr lang="en-US" altLang="ja-JP" sz="2263" b="1" dirty="0"/>
            </a:br>
            <a:r>
              <a:rPr lang="ja-JP" altLang="en-US" sz="2263" b="1" dirty="0"/>
              <a:t>ベースのハンドルから</a:t>
            </a:r>
            <a:r>
              <a:rPr lang="en-US" altLang="ja-JP" sz="2263" b="1" dirty="0"/>
              <a:t>Duplicate</a:t>
            </a:r>
            <a:r>
              <a:rPr lang="ja-JP" altLang="en-US" sz="2263" b="1" dirty="0"/>
              <a:t>し、リストに登録する。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</a:t>
            </a:r>
            <a:r>
              <a:rPr lang="en-US" altLang="ja-JP" sz="2263" b="1" dirty="0"/>
              <a:t>Duplicate</a:t>
            </a:r>
            <a:r>
              <a:rPr lang="ja-JP" altLang="en-US" sz="2263" b="1" dirty="0"/>
              <a:t>してできたハンドルを外部へ伝える。</a:t>
            </a:r>
          </a:p>
        </p:txBody>
      </p:sp>
    </p:spTree>
    <p:extLst>
      <p:ext uri="{BB962C8B-B14F-4D97-AF65-F5344CB8AC3E}">
        <p14:creationId xmlns:p14="http://schemas.microsoft.com/office/powerpoint/2010/main" val="6702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サウンドのリソース管理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4393789"/>
            <a:ext cx="8377913" cy="148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音に関しては、よほどのこだわりが無い限りは</a:t>
            </a:r>
            <a:br>
              <a:rPr lang="en-US" altLang="ja-JP" sz="2260" b="1" dirty="0"/>
            </a:br>
            <a:r>
              <a:rPr lang="ja-JP" altLang="en-US" sz="2260" b="1" dirty="0"/>
              <a:t>多重再生は行わなくていい</a:t>
            </a:r>
            <a:r>
              <a:rPr lang="en-US" altLang="ja-JP" sz="2260" b="1" dirty="0"/>
              <a:t>(</a:t>
            </a:r>
            <a:r>
              <a:rPr lang="ja-JP" altLang="en-US" sz="2260" b="1" dirty="0"/>
              <a:t>と思う</a:t>
            </a:r>
            <a:r>
              <a:rPr lang="en-US" altLang="ja-JP" sz="2260" b="1" dirty="0"/>
              <a:t>)</a:t>
            </a:r>
            <a:r>
              <a:rPr lang="ja-JP" altLang="en-US" sz="2260" b="1" dirty="0" err="1"/>
              <a:t>。</a:t>
            </a:r>
            <a:br>
              <a:rPr lang="en-US" altLang="ja-JP" sz="2260" b="1" dirty="0"/>
            </a:br>
            <a:r>
              <a:rPr lang="ja-JP" altLang="en-US" sz="2260" b="1" dirty="0"/>
              <a:t>逆に多重再生のせいでうるさくなることがあるので、</a:t>
            </a:r>
            <a:br>
              <a:rPr lang="en-US" altLang="ja-JP" sz="2260" b="1" dirty="0"/>
            </a:br>
            <a:r>
              <a:rPr lang="ja-JP" altLang="en-US" sz="2260" b="1" dirty="0"/>
              <a:t>導入前に確認をしておこう！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331640" y="1096865"/>
            <a:ext cx="4464496" cy="1137043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サウンド周りは使いまわせることが</a:t>
            </a:r>
            <a:br>
              <a:rPr lang="en-US" altLang="ja-JP" sz="2000" b="1" dirty="0"/>
            </a:br>
            <a:r>
              <a:rPr lang="ja-JP" altLang="en-US" sz="2000" b="1" dirty="0"/>
              <a:t>多いので、</a:t>
            </a:r>
            <a:r>
              <a:rPr lang="en-US" altLang="ja-JP" sz="2000" b="1" dirty="0"/>
              <a:t>2D</a:t>
            </a:r>
            <a:r>
              <a:rPr lang="ja-JP" altLang="en-US" sz="2000" b="1" dirty="0"/>
              <a:t>画像と一緒でいいです！</a:t>
            </a:r>
          </a:p>
        </p:txBody>
      </p:sp>
      <p:sp>
        <p:nvSpPr>
          <p:cNvPr id="9" name="角丸四角形吹き出し 13">
            <a:extLst>
              <a:ext uri="{FF2B5EF4-FFF2-40B4-BE49-F238E27FC236}">
                <a16:creationId xmlns:a16="http://schemas.microsoft.com/office/drawing/2014/main" id="{68B0A9B7-A856-44D2-AEDC-B9FA9650B7F1}"/>
              </a:ext>
            </a:extLst>
          </p:cNvPr>
          <p:cNvSpPr/>
          <p:nvPr/>
        </p:nvSpPr>
        <p:spPr>
          <a:xfrm>
            <a:off x="4211960" y="2636912"/>
            <a:ext cx="4464496" cy="1137043"/>
          </a:xfrm>
          <a:prstGeom prst="wedgeRoundRectCallout">
            <a:avLst>
              <a:gd name="adj1" fmla="val -64772"/>
              <a:gd name="adj2" fmla="val -1056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ただし、同じ効果音を多重再生したい</a:t>
            </a:r>
            <a:br>
              <a:rPr lang="en-US" altLang="ja-JP" sz="2000" b="1" dirty="0"/>
            </a:br>
            <a:r>
              <a:rPr lang="ja-JP" altLang="en-US" sz="2000" b="1" dirty="0"/>
              <a:t>場合は</a:t>
            </a:r>
            <a:r>
              <a:rPr lang="en-US" altLang="ja-JP" sz="2000" b="1" dirty="0"/>
              <a:t>3D</a:t>
            </a:r>
            <a:r>
              <a:rPr lang="ja-JP" altLang="en-US" sz="2000" b="1" dirty="0"/>
              <a:t>モデルの管理方法の方が</a:t>
            </a:r>
            <a:br>
              <a:rPr lang="en-US" altLang="ja-JP" sz="2000" b="1" dirty="0"/>
            </a:br>
            <a:r>
              <a:rPr lang="ja-JP" altLang="en-US" sz="2000" b="1" dirty="0"/>
              <a:t>適切かもしれないね。</a:t>
            </a:r>
          </a:p>
        </p:txBody>
      </p:sp>
      <p:pic>
        <p:nvPicPr>
          <p:cNvPr id="4098" name="Picture 2" descr="キリッとした表情の人のイラスト（女性）">
            <a:extLst>
              <a:ext uri="{FF2B5EF4-FFF2-40B4-BE49-F238E27FC236}">
                <a16:creationId xmlns:a16="http://schemas.microsoft.com/office/drawing/2014/main" id="{8944A4E4-7A5A-4ED6-966D-18DCC8B75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29420"/>
            <a:ext cx="1674335" cy="1930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すっきりした顔の女性のイラスト">
            <a:extLst>
              <a:ext uri="{FF2B5EF4-FFF2-40B4-BE49-F238E27FC236}">
                <a16:creationId xmlns:a16="http://schemas.microsoft.com/office/drawing/2014/main" id="{8E0AE526-5EA6-48C6-A397-696EA1E24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196" y="836712"/>
            <a:ext cx="1944216" cy="183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524201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13641</TotalTime>
  <Words>617</Words>
  <Application>Microsoft Office PowerPoint</Application>
  <PresentationFormat>画面に合わせる (4:3)</PresentationFormat>
  <Paragraphs>43</Paragraphs>
  <Slides>11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ＭＳ Ｐゴシック</vt:lpstr>
      <vt:lpstr>Arial</vt:lpstr>
      <vt:lpstr>Calibri</vt:lpstr>
      <vt:lpstr>標準デザイン</vt:lpstr>
      <vt:lpstr>この単元の目標</vt:lpstr>
      <vt:lpstr>3　リソース管理のライブラリ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578</cp:revision>
  <dcterms:created xsi:type="dcterms:W3CDTF">2013-04-19T02:46:48Z</dcterms:created>
  <dcterms:modified xsi:type="dcterms:W3CDTF">2023-11-01T01:50:46Z</dcterms:modified>
</cp:coreProperties>
</file>