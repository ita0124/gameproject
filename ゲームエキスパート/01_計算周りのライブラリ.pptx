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4" r:id="rId2"/>
    <p:sldId id="263" r:id="rId3"/>
    <p:sldId id="424" r:id="rId4"/>
    <p:sldId id="499" r:id="rId5"/>
    <p:sldId id="500" r:id="rId6"/>
    <p:sldId id="501" r:id="rId7"/>
    <p:sldId id="502" r:id="rId8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66CC"/>
    <a:srgbClr val="FF0000"/>
    <a:srgbClr val="99FFCC"/>
    <a:srgbClr val="99FF33"/>
    <a:srgbClr val="FFCC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32" autoAdjust="0"/>
  </p:normalViewPr>
  <p:slideViewPr>
    <p:cSldViewPr>
      <p:cViewPr varScale="1">
        <p:scale>
          <a:sx n="76" d="100"/>
          <a:sy n="76" d="100"/>
        </p:scale>
        <p:origin x="54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CB706637-DCFC-497F-BB89-D8E67B749BBA}" type="datetimeFigureOut">
              <a:rPr lang="ja-JP" altLang="en-US"/>
              <a:pPr>
                <a:defRPr/>
              </a:pPr>
              <a:t>2023/10/19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425A6533-C8EA-4CF0-90C3-0DEC9B8D743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50186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3313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05369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69604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8648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90108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8287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293366-EE10-4D47-A1E9-EE7FBEB2A92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67236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DDD20-FFA7-4C36-A680-1856AB2F305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6717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64983-2EE2-43D2-918C-A92BCA27C10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63049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56793-D6FA-4D1D-B17A-AC8C5E89C81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89128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CED31D-AA26-4451-A054-CD1C2659243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36483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909F5B-575D-49F1-AA0D-40166D43521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4868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4E60D-59DB-4E98-9EA3-CD1925070F1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5036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BBA516-D543-47CA-8B43-B116480E195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2616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337459-33D6-4C7D-B668-68D8A138A18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54718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924D0B-E5D1-406F-982B-7B2FFAB4731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1510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D8DA2-3599-48AE-AF70-778523510A4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90963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6A49AFD3-AA32-4D40-AC69-503CCE1DD89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簡単な自作ライブラリを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整理する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en-US" altLang="ja-JP" sz="4000" dirty="0"/>
              <a:t>1</a:t>
            </a:r>
            <a:r>
              <a:rPr lang="ja-JP" altLang="en-US" sz="4000" dirty="0"/>
              <a:t>　計算周りのライブラリ整理</a:t>
            </a: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322833" y="1484486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</a:t>
            </a:r>
            <a:r>
              <a:rPr lang="ja-JP" altLang="en-US" sz="2250" b="1" dirty="0"/>
              <a:t>自作ライブラリとは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539552" y="1988840"/>
            <a:ext cx="806489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400" b="1" dirty="0"/>
              <a:t>ライブラリとは、</a:t>
            </a:r>
            <a:r>
              <a:rPr lang="ja-JP" altLang="en-US" sz="2400" b="1" dirty="0">
                <a:solidFill>
                  <a:srgbClr val="FF66CC"/>
                </a:solidFill>
              </a:rPr>
              <a:t>複雑なプログラムを簡単に使えるよう</a:t>
            </a:r>
            <a:br>
              <a:rPr lang="en-US" altLang="ja-JP" sz="2400" b="1" dirty="0">
                <a:solidFill>
                  <a:srgbClr val="FF66CC"/>
                </a:solidFill>
              </a:rPr>
            </a:br>
            <a:r>
              <a:rPr lang="ja-JP" altLang="en-US" sz="2400" b="1" dirty="0">
                <a:solidFill>
                  <a:srgbClr val="FF66CC"/>
                </a:solidFill>
              </a:rPr>
              <a:t>定型化</a:t>
            </a:r>
            <a:r>
              <a:rPr lang="ja-JP" altLang="en-US" sz="2400" b="1" dirty="0"/>
              <a:t>してまとめたプログラムファイルの事。</a:t>
            </a:r>
            <a:br>
              <a:rPr lang="en-US" altLang="ja-JP" sz="2400" b="1" dirty="0"/>
            </a:br>
            <a:r>
              <a:rPr lang="en-US" altLang="ja-JP" sz="2400" b="1" dirty="0" err="1"/>
              <a:t>DxLib</a:t>
            </a:r>
            <a:r>
              <a:rPr lang="ja-JP" altLang="en-US" sz="2400" b="1" dirty="0"/>
              <a:t>も</a:t>
            </a:r>
            <a:r>
              <a:rPr lang="en-US" altLang="ja-JP" sz="2400" b="1" dirty="0"/>
              <a:t>DirectX</a:t>
            </a:r>
            <a:r>
              <a:rPr lang="ja-JP" altLang="en-US" sz="2400" b="1" dirty="0" err="1"/>
              <a:t>を簡</a:t>
            </a:r>
            <a:r>
              <a:rPr lang="ja-JP" altLang="en-US" sz="2400" b="1" dirty="0"/>
              <a:t>単に使えるようにした</a:t>
            </a:r>
            <a:br>
              <a:rPr lang="en-US" altLang="ja-JP" sz="2400" b="1" dirty="0"/>
            </a:br>
            <a:r>
              <a:rPr lang="ja-JP" altLang="en-US" sz="2400" b="1" dirty="0"/>
              <a:t>ライブラリの一種となる。</a:t>
            </a:r>
            <a:endParaRPr lang="en-US" altLang="ja-JP" sz="2400" b="1" dirty="0"/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51004DFB-DA07-44DE-A8AD-9902CBC72160}"/>
              </a:ext>
            </a:extLst>
          </p:cNvPr>
          <p:cNvSpPr/>
          <p:nvPr/>
        </p:nvSpPr>
        <p:spPr>
          <a:xfrm>
            <a:off x="1403648" y="3848430"/>
            <a:ext cx="5030247" cy="730815"/>
          </a:xfrm>
          <a:prstGeom prst="wedgeRoundRectCallout">
            <a:avLst>
              <a:gd name="adj1" fmla="val 57761"/>
              <a:gd name="adj2" fmla="val -465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じゃあ、この授業で作る自作ライブラリって</a:t>
            </a:r>
            <a:br>
              <a:rPr lang="en-US" altLang="ja-JP" sz="2000" b="1" dirty="0"/>
            </a:br>
            <a:r>
              <a:rPr lang="ja-JP" altLang="en-US" sz="2000" b="1" dirty="0"/>
              <a:t>何なの？</a:t>
            </a:r>
          </a:p>
        </p:txBody>
      </p:sp>
      <p:pic>
        <p:nvPicPr>
          <p:cNvPr id="1026" name="Picture 2" descr="男性の表情のイラスト「疑問」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3354001"/>
            <a:ext cx="1272560" cy="171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Box 5">
            <a:extLst>
              <a:ext uri="{FF2B5EF4-FFF2-40B4-BE49-F238E27FC236}">
                <a16:creationId xmlns:a16="http://schemas.microsoft.com/office/drawing/2014/main" id="{CBEF112A-7D9E-45F3-B9EE-27239A38F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5406315"/>
            <a:ext cx="806489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400" b="1" dirty="0" err="1"/>
              <a:t>DxLib</a:t>
            </a:r>
            <a:r>
              <a:rPr lang="ja-JP" altLang="en-US" sz="2400" b="1" dirty="0"/>
              <a:t>を、どのプログラムでもさらに簡単に使えるよう</a:t>
            </a:r>
            <a:br>
              <a:rPr lang="en-US" altLang="ja-JP" sz="2400" b="1" dirty="0"/>
            </a:br>
            <a:r>
              <a:rPr lang="ja-JP" altLang="en-US" sz="2400" b="1" dirty="0">
                <a:solidFill>
                  <a:srgbClr val="0070C0"/>
                </a:solidFill>
              </a:rPr>
              <a:t>ラップ</a:t>
            </a:r>
            <a:r>
              <a:rPr lang="ja-JP" altLang="en-US" sz="2400" b="1" dirty="0"/>
              <a:t>して集めたプログラム群を作成する予定。</a:t>
            </a:r>
            <a:endParaRPr lang="en-US" altLang="ja-JP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70551" y="1196752"/>
            <a:ext cx="8377913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ライブラリ作成のメリットは以下の通り。</a:t>
            </a: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94741" y="398562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</a:t>
            </a:r>
            <a:r>
              <a:rPr lang="ja-JP" altLang="en-US" sz="2250" b="1" dirty="0"/>
              <a:t>ライブラリ作成のメリット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95536" y="2060848"/>
            <a:ext cx="837791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800" b="1" dirty="0"/>
              <a:t>①ゼロからプログラムを作らなくてもよくなる。</a:t>
            </a:r>
            <a:endParaRPr lang="en-US" altLang="ja-JP" sz="2800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800" b="1" dirty="0"/>
              <a:t>②プログラムの修正が楽になる。</a:t>
            </a:r>
            <a:endParaRPr lang="en-US" altLang="ja-JP" sz="2800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800" b="1" dirty="0"/>
              <a:t>③</a:t>
            </a:r>
            <a:r>
              <a:rPr lang="en-US" altLang="ja-JP" sz="2800" b="1" dirty="0" err="1"/>
              <a:t>DxLib</a:t>
            </a:r>
            <a:r>
              <a:rPr lang="ja-JP" altLang="en-US" sz="2800" b="1" dirty="0"/>
              <a:t>以外のライブラリなどにも対応しやすくなる。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283CAB83-0D43-4AE0-960B-7C7186CE100B}"/>
              </a:ext>
            </a:extLst>
          </p:cNvPr>
          <p:cNvSpPr/>
          <p:nvPr/>
        </p:nvSpPr>
        <p:spPr>
          <a:xfrm>
            <a:off x="611560" y="4380189"/>
            <a:ext cx="5030247" cy="1137043"/>
          </a:xfrm>
          <a:prstGeom prst="wedgeRoundRectCallout">
            <a:avLst>
              <a:gd name="adj1" fmla="val 57761"/>
              <a:gd name="adj2" fmla="val -465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あとは、プログラムを作りこんでいる感が</a:t>
            </a:r>
            <a:br>
              <a:rPr lang="en-US" altLang="ja-JP" sz="2000" b="1" dirty="0"/>
            </a:br>
            <a:r>
              <a:rPr lang="ja-JP" altLang="en-US" sz="2000" b="1" dirty="0"/>
              <a:t>出てくるので、少し印象もよくなります。</a:t>
            </a:r>
            <a:br>
              <a:rPr lang="en-US" altLang="ja-JP" sz="2000" b="1" dirty="0"/>
            </a:br>
            <a:r>
              <a:rPr lang="ja-JP" altLang="en-US" sz="2000" b="1" dirty="0"/>
              <a:t>作って損になるようなことは無いです。</a:t>
            </a:r>
          </a:p>
        </p:txBody>
      </p:sp>
      <p:pic>
        <p:nvPicPr>
          <p:cNvPr id="1026" name="Picture 2" descr="できる会社員のイラスト（女性）">
            <a:extLst>
              <a:ext uri="{FF2B5EF4-FFF2-40B4-BE49-F238E27FC236}">
                <a16:creationId xmlns:a16="http://schemas.microsoft.com/office/drawing/2014/main" id="{CC115C49-D5DD-4F40-AEC5-3111CB249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999" y="4214799"/>
            <a:ext cx="2102697" cy="2444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8347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94741" y="398562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</a:t>
            </a:r>
            <a:r>
              <a:rPr lang="ja-JP" altLang="en-US" sz="2250" b="1" dirty="0"/>
              <a:t>ライブラリ作成でやってはいけない事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83044" y="2780928"/>
            <a:ext cx="8377913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800" b="1" dirty="0"/>
              <a:t>①他のプログラムで使う際に、</a:t>
            </a:r>
            <a:r>
              <a:rPr lang="ja-JP" altLang="en-US" sz="2800" b="1" dirty="0">
                <a:solidFill>
                  <a:srgbClr val="7030A0"/>
                </a:solidFill>
              </a:rPr>
              <a:t>修正が必要</a:t>
            </a:r>
            <a:r>
              <a:rPr lang="ja-JP" altLang="en-US" sz="2800" b="1" dirty="0"/>
              <a:t>になる。</a:t>
            </a:r>
            <a:endParaRPr lang="en-US" altLang="ja-JP" sz="2800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800" b="1" dirty="0"/>
              <a:t>②なんでも応用が利くようにと考えすぎて</a:t>
            </a:r>
            <a:br>
              <a:rPr lang="en-US" altLang="ja-JP" sz="2800" b="1" dirty="0"/>
            </a:br>
            <a:r>
              <a:rPr lang="ja-JP" altLang="en-US" sz="2800" b="1" dirty="0">
                <a:solidFill>
                  <a:srgbClr val="7030A0"/>
                </a:solidFill>
              </a:rPr>
              <a:t>使い方が手軽になっていない</a:t>
            </a:r>
            <a:r>
              <a:rPr lang="ja-JP" altLang="en-US" sz="2800" b="1" dirty="0"/>
              <a:t>。</a:t>
            </a:r>
            <a:endParaRPr lang="en-US" altLang="ja-JP" sz="2800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800" b="1" dirty="0"/>
              <a:t>③一つのクラスに機能を盛り込みすぎない。</a:t>
            </a:r>
            <a:endParaRPr lang="en-US" altLang="ja-JP" sz="2800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800" b="1" dirty="0"/>
              <a:t>④ぼくがかんがえたさいきょうのライブラリに</a:t>
            </a:r>
            <a:br>
              <a:rPr lang="en-US" altLang="ja-JP" sz="2800" b="1" dirty="0"/>
            </a:br>
            <a:r>
              <a:rPr lang="ja-JP" altLang="en-US" sz="2800" b="1" dirty="0"/>
              <a:t>気を取られすぎてゲームが完成しない。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283CAB83-0D43-4AE0-960B-7C7186CE100B}"/>
              </a:ext>
            </a:extLst>
          </p:cNvPr>
          <p:cNvSpPr/>
          <p:nvPr/>
        </p:nvSpPr>
        <p:spPr>
          <a:xfrm>
            <a:off x="683568" y="1222662"/>
            <a:ext cx="5030247" cy="1137043"/>
          </a:xfrm>
          <a:prstGeom prst="wedgeRoundRectCallout">
            <a:avLst>
              <a:gd name="adj1" fmla="val 57761"/>
              <a:gd name="adj2" fmla="val -465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どのプロジェクトでもゲーム制作が</a:t>
            </a:r>
            <a:br>
              <a:rPr lang="en-US" altLang="ja-JP" sz="2000" b="1" dirty="0"/>
            </a:br>
            <a:r>
              <a:rPr lang="ja-JP" altLang="en-US" sz="2000" b="1" dirty="0"/>
              <a:t>作りやすくなるという事を意識しましょう！</a:t>
            </a:r>
          </a:p>
        </p:txBody>
      </p:sp>
      <p:pic>
        <p:nvPicPr>
          <p:cNvPr id="2050" name="Picture 2" descr="机で勉強をする生徒のイラスト（男子）">
            <a:extLst>
              <a:ext uri="{FF2B5EF4-FFF2-40B4-BE49-F238E27FC236}">
                <a16:creationId xmlns:a16="http://schemas.microsoft.com/office/drawing/2014/main" id="{81F96143-9707-4DFF-B39E-C1E24EBED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815" y="786125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020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94741" y="398562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</a:t>
            </a:r>
            <a:r>
              <a:rPr lang="ja-JP" altLang="en-US" sz="2250" b="1" dirty="0"/>
              <a:t>計算ライブラリの修正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551" y="1196752"/>
            <a:ext cx="8377913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現状では「</a:t>
            </a:r>
            <a:r>
              <a:rPr lang="en-US" altLang="ja-JP" sz="2263" b="1" dirty="0" err="1"/>
              <a:t>MyMath</a:t>
            </a:r>
            <a:r>
              <a:rPr lang="ja-JP" altLang="en-US" sz="2263" b="1" dirty="0"/>
              <a:t>」クラスに計算機能が集中している</a:t>
            </a:r>
            <a:br>
              <a:rPr lang="en-US" altLang="ja-JP" sz="2263" b="1" dirty="0"/>
            </a:br>
            <a:r>
              <a:rPr lang="ja-JP" altLang="en-US" sz="2263" b="1" dirty="0"/>
              <a:t>可能性が非常に高い。</a:t>
            </a:r>
            <a:br>
              <a:rPr lang="en-US" altLang="ja-JP" sz="2263" b="1" dirty="0"/>
            </a:br>
            <a:r>
              <a:rPr lang="ja-JP" altLang="en-US" sz="2263" b="1" dirty="0"/>
              <a:t>特にベクトルや行列の計算は数が多くなりがちなので</a:t>
            </a:r>
            <a:br>
              <a:rPr lang="en-US" altLang="ja-JP" sz="2263" b="1" dirty="0"/>
            </a:br>
            <a:r>
              <a:rPr lang="ja-JP" altLang="en-US" sz="2263" b="1" dirty="0"/>
              <a:t>下記のように修正したほうがいい</a:t>
            </a:r>
            <a:r>
              <a:rPr lang="en-US" altLang="ja-JP" sz="2263" b="1" dirty="0"/>
              <a:t>(</a:t>
            </a:r>
            <a:r>
              <a:rPr lang="ja-JP" altLang="en-US" sz="2263" b="1" dirty="0"/>
              <a:t>かもしれない</a:t>
            </a:r>
            <a:r>
              <a:rPr lang="en-US" altLang="ja-JP" sz="2263" b="1" dirty="0"/>
              <a:t>)</a:t>
            </a:r>
            <a:r>
              <a:rPr lang="ja-JP" altLang="en-US" sz="2263" b="1" dirty="0" err="1"/>
              <a:t>。</a:t>
            </a:r>
            <a:endParaRPr lang="ja-JP" altLang="en-US" sz="2263" b="1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8F6D86B4-5EBE-4B6E-9B12-41E1473DE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3" y="3501008"/>
            <a:ext cx="792088" cy="43815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ja-JP" altLang="en-US" sz="2250" b="1" dirty="0"/>
              <a:t>現状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4E3837D-D49F-40E3-BCFB-3E56BF5582BB}"/>
              </a:ext>
            </a:extLst>
          </p:cNvPr>
          <p:cNvSpPr/>
          <p:nvPr/>
        </p:nvSpPr>
        <p:spPr>
          <a:xfrm>
            <a:off x="539552" y="4365104"/>
            <a:ext cx="2160240" cy="20162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>
                <a:solidFill>
                  <a:srgbClr val="0000FF"/>
                </a:solidFill>
              </a:rPr>
              <a:t>MyMath</a:t>
            </a:r>
            <a:r>
              <a:rPr kumimoji="1" lang="ja-JP" altLang="en-US" b="1" dirty="0">
                <a:solidFill>
                  <a:srgbClr val="0000FF"/>
                </a:solidFill>
              </a:rPr>
              <a:t>クラス</a:t>
            </a:r>
            <a:endParaRPr lang="en-US" altLang="ja-JP" b="1" dirty="0">
              <a:solidFill>
                <a:srgbClr val="0000FF"/>
              </a:solidFill>
            </a:endParaRPr>
          </a:p>
          <a:p>
            <a:pPr algn="ctr"/>
            <a:r>
              <a:rPr kumimoji="1" lang="ja-JP" altLang="en-US" b="1" dirty="0">
                <a:solidFill>
                  <a:schemeClr val="tx1"/>
                </a:solidFill>
              </a:rPr>
              <a:t>数学系の処理が</a:t>
            </a:r>
            <a:br>
              <a:rPr kumimoji="1" lang="en-US" altLang="ja-JP" b="1" dirty="0">
                <a:solidFill>
                  <a:schemeClr val="tx1"/>
                </a:solidFill>
              </a:rPr>
            </a:br>
            <a:r>
              <a:rPr kumimoji="1" lang="ja-JP" altLang="en-US" b="1" dirty="0">
                <a:solidFill>
                  <a:schemeClr val="tx1"/>
                </a:solidFill>
              </a:rPr>
              <a:t>色々入っている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F75E158A-9B56-40CF-9D1C-D33C11467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968" y="3501380"/>
            <a:ext cx="1080120" cy="438582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ja-JP" altLang="en-US" sz="2250" b="1" dirty="0"/>
              <a:t>修正後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20889284-5798-49EE-8F8C-745EFC59CA8C}"/>
              </a:ext>
            </a:extLst>
          </p:cNvPr>
          <p:cNvCxnSpPr>
            <a:cxnSpLocks/>
            <a:stCxn id="2" idx="3"/>
            <a:endCxn id="14" idx="1"/>
          </p:cNvCxnSpPr>
          <p:nvPr/>
        </p:nvCxnSpPr>
        <p:spPr>
          <a:xfrm flipV="1">
            <a:off x="2699792" y="5227724"/>
            <a:ext cx="1614380" cy="1454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15D72B43-7675-40FD-BD7D-A9602BF33337}"/>
              </a:ext>
            </a:extLst>
          </p:cNvPr>
          <p:cNvSpPr/>
          <p:nvPr/>
        </p:nvSpPr>
        <p:spPr>
          <a:xfrm>
            <a:off x="4314172" y="4221088"/>
            <a:ext cx="1944214" cy="466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rgbClr val="FF0000"/>
                </a:solidFill>
              </a:rPr>
              <a:t>Vector</a:t>
            </a:r>
            <a:r>
              <a:rPr kumimoji="1" lang="ja-JP" altLang="en-US" b="1" dirty="0">
                <a:solidFill>
                  <a:srgbClr val="FF0000"/>
                </a:solidFill>
              </a:rPr>
              <a:t>クラス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EC41C664-A5A7-4A63-89D4-39308A323A7E}"/>
              </a:ext>
            </a:extLst>
          </p:cNvPr>
          <p:cNvSpPr/>
          <p:nvPr/>
        </p:nvSpPr>
        <p:spPr>
          <a:xfrm>
            <a:off x="4314172" y="4994616"/>
            <a:ext cx="1944214" cy="466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rgbClr val="FF0000"/>
                </a:solidFill>
              </a:rPr>
              <a:t>Matrix</a:t>
            </a:r>
            <a:r>
              <a:rPr kumimoji="1" lang="ja-JP" altLang="en-US" b="1" dirty="0">
                <a:solidFill>
                  <a:srgbClr val="FF0000"/>
                </a:solidFill>
              </a:rPr>
              <a:t>クラス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DB24710-9D8A-49E3-903F-DBB855B09D18}"/>
              </a:ext>
            </a:extLst>
          </p:cNvPr>
          <p:cNvSpPr/>
          <p:nvPr/>
        </p:nvSpPr>
        <p:spPr>
          <a:xfrm>
            <a:off x="4355978" y="5768144"/>
            <a:ext cx="2088230" cy="901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rgbClr val="FF0000"/>
                </a:solidFill>
              </a:rPr>
              <a:t>Math</a:t>
            </a:r>
            <a:r>
              <a:rPr kumimoji="1" lang="ja-JP" altLang="en-US" b="1" dirty="0">
                <a:solidFill>
                  <a:srgbClr val="FF0000"/>
                </a:solidFill>
              </a:rPr>
              <a:t>クラス</a:t>
            </a:r>
            <a:br>
              <a:rPr kumimoji="1" lang="en-US" altLang="ja-JP" b="1" dirty="0">
                <a:solidFill>
                  <a:srgbClr val="FF0000"/>
                </a:solidFill>
              </a:rPr>
            </a:br>
            <a:r>
              <a:rPr kumimoji="1" lang="ja-JP" altLang="en-US" b="1" dirty="0">
                <a:solidFill>
                  <a:schemeClr val="tx1"/>
                </a:solidFill>
              </a:rPr>
              <a:t>上記に該当しない</a:t>
            </a:r>
            <a:br>
              <a:rPr kumimoji="1" lang="en-US" altLang="ja-JP" b="1" dirty="0">
                <a:solidFill>
                  <a:schemeClr val="tx1"/>
                </a:solidFill>
              </a:rPr>
            </a:br>
            <a:r>
              <a:rPr kumimoji="1" lang="ja-JP" altLang="en-US" b="1" dirty="0">
                <a:solidFill>
                  <a:schemeClr val="tx1"/>
                </a:solidFill>
              </a:rPr>
              <a:t>計算処理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C1267B80-8D4E-4621-ACD6-9F6DF833C7DA}"/>
              </a:ext>
            </a:extLst>
          </p:cNvPr>
          <p:cNvSpPr/>
          <p:nvPr/>
        </p:nvSpPr>
        <p:spPr>
          <a:xfrm>
            <a:off x="7020274" y="4924084"/>
            <a:ext cx="1944214" cy="6651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</a:rPr>
              <a:t>当たり判定の</a:t>
            </a:r>
            <a:br>
              <a:rPr kumimoji="1" lang="en-US" altLang="ja-JP" b="1" dirty="0">
                <a:solidFill>
                  <a:srgbClr val="FF0000"/>
                </a:solidFill>
              </a:rPr>
            </a:br>
            <a:r>
              <a:rPr kumimoji="1" lang="ja-JP" altLang="en-US" b="1" dirty="0">
                <a:solidFill>
                  <a:srgbClr val="FF0000"/>
                </a:solidFill>
              </a:rPr>
              <a:t>基本クラス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C6FAAEDB-5EFB-47E6-8FC8-03ABF8913C03}"/>
              </a:ext>
            </a:extLst>
          </p:cNvPr>
          <p:cNvCxnSpPr>
            <a:cxnSpLocks/>
            <a:stCxn id="2" idx="3"/>
            <a:endCxn id="13" idx="1"/>
          </p:cNvCxnSpPr>
          <p:nvPr/>
        </p:nvCxnSpPr>
        <p:spPr>
          <a:xfrm flipV="1">
            <a:off x="2699792" y="4454196"/>
            <a:ext cx="1614380" cy="9190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3E91F80-E151-4067-921D-24B23E89DE9B}"/>
              </a:ext>
            </a:extLst>
          </p:cNvPr>
          <p:cNvCxnSpPr>
            <a:cxnSpLocks/>
            <a:stCxn id="2" idx="3"/>
            <a:endCxn id="15" idx="1"/>
          </p:cNvCxnSpPr>
          <p:nvPr/>
        </p:nvCxnSpPr>
        <p:spPr>
          <a:xfrm>
            <a:off x="2699792" y="5373216"/>
            <a:ext cx="1656186" cy="8455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6" name="加算記号 25">
            <a:extLst>
              <a:ext uri="{FF2B5EF4-FFF2-40B4-BE49-F238E27FC236}">
                <a16:creationId xmlns:a16="http://schemas.microsoft.com/office/drawing/2014/main" id="{E35D1BD7-BDD7-41EA-ACF5-DCAB8A9C1D95}"/>
              </a:ext>
            </a:extLst>
          </p:cNvPr>
          <p:cNvSpPr/>
          <p:nvPr/>
        </p:nvSpPr>
        <p:spPr>
          <a:xfrm>
            <a:off x="6444208" y="5085184"/>
            <a:ext cx="432048" cy="375648"/>
          </a:xfrm>
          <a:prstGeom prst="mathPlus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Text Box 5">
            <a:extLst>
              <a:ext uri="{FF2B5EF4-FFF2-40B4-BE49-F238E27FC236}">
                <a16:creationId xmlns:a16="http://schemas.microsoft.com/office/drawing/2014/main" id="{BEA6EF95-C0A8-4B4E-9B2E-4C1C5038B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0394" y="5768144"/>
            <a:ext cx="1016222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etc</a:t>
            </a:r>
            <a:r>
              <a:rPr lang="en-US" altLang="ja-JP" sz="2263" b="1" dirty="0"/>
              <a:t>…</a:t>
            </a:r>
            <a:endParaRPr lang="ja-JP" altLang="en-US" sz="2263" b="1" dirty="0"/>
          </a:p>
        </p:txBody>
      </p:sp>
    </p:spTree>
    <p:extLst>
      <p:ext uri="{BB962C8B-B14F-4D97-AF65-F5344CB8AC3E}">
        <p14:creationId xmlns:p14="http://schemas.microsoft.com/office/powerpoint/2010/main" val="2657226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551" y="431554"/>
            <a:ext cx="8377913" cy="1833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数学系ライブラリでは、</a:t>
            </a:r>
            <a:endParaRPr lang="en-US" altLang="ja-JP" sz="2263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・どのような場面でも使う可能性が高い</a:t>
            </a:r>
            <a:br>
              <a:rPr lang="en-US" altLang="ja-JP" sz="2263" b="1" dirty="0"/>
            </a:br>
            <a:r>
              <a:rPr lang="ja-JP" altLang="en-US" sz="2263" b="1" dirty="0"/>
              <a:t>・メンバ変数は一切不要</a:t>
            </a:r>
            <a:endParaRPr lang="en-US" altLang="ja-JP" sz="2263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という特徴があるため、</a:t>
            </a:r>
            <a:r>
              <a:rPr lang="en-US" altLang="ja-JP" sz="2263" b="1" dirty="0">
                <a:solidFill>
                  <a:srgbClr val="FF0000"/>
                </a:solidFill>
              </a:rPr>
              <a:t>static</a:t>
            </a:r>
            <a:r>
              <a:rPr lang="ja-JP" altLang="en-US" sz="2263" b="1" dirty="0">
                <a:solidFill>
                  <a:srgbClr val="FF0000"/>
                </a:solidFill>
              </a:rPr>
              <a:t>クラス</a:t>
            </a:r>
            <a:r>
              <a:rPr lang="ja-JP" altLang="en-US" sz="2263" b="1" dirty="0"/>
              <a:t>にして問題ない。</a:t>
            </a:r>
          </a:p>
        </p:txBody>
      </p:sp>
      <p:sp>
        <p:nvSpPr>
          <p:cNvPr id="18" name="角丸四角形吹き出し 13">
            <a:extLst>
              <a:ext uri="{FF2B5EF4-FFF2-40B4-BE49-F238E27FC236}">
                <a16:creationId xmlns:a16="http://schemas.microsoft.com/office/drawing/2014/main" id="{B34A54A9-C43E-4D09-ACE3-C64467F047A6}"/>
              </a:ext>
            </a:extLst>
          </p:cNvPr>
          <p:cNvSpPr/>
          <p:nvPr/>
        </p:nvSpPr>
        <p:spPr>
          <a:xfrm>
            <a:off x="611560" y="2852936"/>
            <a:ext cx="5030247" cy="730815"/>
          </a:xfrm>
          <a:prstGeom prst="wedgeRoundRectCallout">
            <a:avLst>
              <a:gd name="adj1" fmla="val 57761"/>
              <a:gd name="adj2" fmla="val -465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000" b="1" dirty="0" err="1"/>
              <a:t>DxLib</a:t>
            </a:r>
            <a:r>
              <a:rPr lang="ja-JP" altLang="en-US" sz="2000" b="1" dirty="0"/>
              <a:t>のコリジョン情報を使った</a:t>
            </a:r>
            <a:br>
              <a:rPr lang="en-US" altLang="ja-JP" sz="2000" b="1" dirty="0"/>
            </a:br>
            <a:r>
              <a:rPr lang="ja-JP" altLang="en-US" sz="2000" b="1" dirty="0"/>
              <a:t>当たり判定も入れた方がいいかな？</a:t>
            </a: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479222C6-EDBB-4A1D-BF62-677A2BAB0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4149080"/>
            <a:ext cx="8377913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DxLib</a:t>
            </a:r>
            <a:r>
              <a:rPr lang="ja-JP" altLang="en-US" sz="2263" b="1" dirty="0"/>
              <a:t>当たり判定もライブラリ化しても構わないが、</a:t>
            </a:r>
            <a:br>
              <a:rPr lang="en-US" altLang="ja-JP" sz="2263" b="1" dirty="0"/>
            </a:br>
            <a:r>
              <a:rPr lang="ja-JP" altLang="en-US" sz="2263" b="1" dirty="0"/>
              <a:t>「</a:t>
            </a:r>
            <a:r>
              <a:rPr lang="ja-JP" altLang="en-US" sz="2263" b="1" dirty="0">
                <a:solidFill>
                  <a:srgbClr val="00B050"/>
                </a:solidFill>
              </a:rPr>
              <a:t>背景のモデルハンドル</a:t>
            </a:r>
            <a:r>
              <a:rPr lang="ja-JP" altLang="en-US" sz="2263" b="1" dirty="0"/>
              <a:t>」「ヒットする相手の</a:t>
            </a:r>
            <a:r>
              <a:rPr lang="ja-JP" altLang="en-US" sz="2263" b="1" dirty="0">
                <a:solidFill>
                  <a:srgbClr val="00B050"/>
                </a:solidFill>
              </a:rPr>
              <a:t>座標</a:t>
            </a:r>
            <a:r>
              <a:rPr lang="ja-JP" altLang="en-US" sz="2263" b="1" dirty="0"/>
              <a:t>・</a:t>
            </a:r>
            <a:r>
              <a:rPr lang="ja-JP" altLang="en-US" sz="2263" b="1" dirty="0">
                <a:solidFill>
                  <a:srgbClr val="00B050"/>
                </a:solidFill>
              </a:rPr>
              <a:t>半径</a:t>
            </a:r>
            <a:r>
              <a:rPr lang="ja-JP" altLang="en-US" sz="2263" b="1" dirty="0"/>
              <a:t>」といった</a:t>
            </a:r>
            <a:br>
              <a:rPr lang="en-US" altLang="ja-JP" sz="2263" b="1" dirty="0"/>
            </a:br>
            <a:r>
              <a:rPr lang="ja-JP" altLang="en-US" sz="2263" b="1" dirty="0"/>
              <a:t>情報が必要となるため、少し設計には工夫が必要となる。</a:t>
            </a:r>
            <a:endParaRPr lang="en-US" altLang="ja-JP" sz="2263" b="1" dirty="0"/>
          </a:p>
        </p:txBody>
      </p:sp>
      <p:sp>
        <p:nvSpPr>
          <p:cNvPr id="20" name="角丸四角形吹き出し 13">
            <a:extLst>
              <a:ext uri="{FF2B5EF4-FFF2-40B4-BE49-F238E27FC236}">
                <a16:creationId xmlns:a16="http://schemas.microsoft.com/office/drawing/2014/main" id="{F52036D7-C7F0-4F3C-A613-613F3988F8D0}"/>
              </a:ext>
            </a:extLst>
          </p:cNvPr>
          <p:cNvSpPr/>
          <p:nvPr/>
        </p:nvSpPr>
        <p:spPr>
          <a:xfrm>
            <a:off x="2915816" y="5679929"/>
            <a:ext cx="5030247" cy="730815"/>
          </a:xfrm>
          <a:prstGeom prst="wedgeRoundRectCallout">
            <a:avLst>
              <a:gd name="adj1" fmla="val -55347"/>
              <a:gd name="adj2" fmla="val -465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設計の仕方によっては、メンバ変数なんかも</a:t>
            </a:r>
            <a:br>
              <a:rPr lang="en-US" altLang="ja-JP" sz="2000" b="1" dirty="0"/>
            </a:br>
            <a:r>
              <a:rPr lang="ja-JP" altLang="en-US" sz="2000" b="1" dirty="0"/>
              <a:t>必要になってくるかも？</a:t>
            </a:r>
          </a:p>
        </p:txBody>
      </p:sp>
      <p:pic>
        <p:nvPicPr>
          <p:cNvPr id="3074" name="Picture 2" descr="心配している人のイラスト（男性）">
            <a:extLst>
              <a:ext uri="{FF2B5EF4-FFF2-40B4-BE49-F238E27FC236}">
                <a16:creationId xmlns:a16="http://schemas.microsoft.com/office/drawing/2014/main" id="{4CD909EA-3553-4669-BB14-CA522E81C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5399880"/>
            <a:ext cx="1152128" cy="1405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頭にクエスチョンマークを浮かべた人のイラスト（女性）">
            <a:extLst>
              <a:ext uri="{FF2B5EF4-FFF2-40B4-BE49-F238E27FC236}">
                <a16:creationId xmlns:a16="http://schemas.microsoft.com/office/drawing/2014/main" id="{E1FF3BFA-E77B-41F8-8D5C-6806018BB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434570"/>
            <a:ext cx="1152128" cy="1418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1470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551" y="908720"/>
            <a:ext cx="6865745" cy="1833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なお、作成したライブラリは右図のように</a:t>
            </a:r>
            <a:br>
              <a:rPr lang="en-US" altLang="ja-JP" sz="2263" b="1" dirty="0"/>
            </a:br>
            <a:r>
              <a:rPr lang="ja-JP" altLang="en-US" sz="2263" b="1" dirty="0"/>
              <a:t>別フォルダ内で管理しておく方がおススメ。</a:t>
            </a:r>
            <a:br>
              <a:rPr lang="en-US" altLang="ja-JP" sz="2263" b="1" dirty="0"/>
            </a:br>
            <a:r>
              <a:rPr lang="ja-JP" altLang="en-US" sz="2263" b="1" dirty="0"/>
              <a:t>移植の際は「</a:t>
            </a:r>
            <a:r>
              <a:rPr lang="en-US" altLang="ja-JP" sz="2263" b="1" dirty="0"/>
              <a:t>lib</a:t>
            </a:r>
            <a:r>
              <a:rPr lang="ja-JP" altLang="en-US" sz="2263" b="1" dirty="0"/>
              <a:t>」フォルダをそのまま</a:t>
            </a:r>
            <a:br>
              <a:rPr lang="en-US" altLang="ja-JP" sz="2263" b="1" dirty="0"/>
            </a:br>
            <a:r>
              <a:rPr lang="ja-JP" altLang="en-US" sz="2263" b="1" dirty="0"/>
              <a:t>コピーアンドペーストで完了するため、</a:t>
            </a:r>
            <a:br>
              <a:rPr lang="en-US" altLang="ja-JP" sz="2263" b="1" dirty="0"/>
            </a:br>
            <a:r>
              <a:rPr lang="ja-JP" altLang="en-US" sz="2263" b="1" dirty="0"/>
              <a:t>フォルダ整理の手間もなくなる！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3338C62A-39B4-4847-AD1D-534F9ED0E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089" y="183112"/>
            <a:ext cx="1450368" cy="39852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A57657F9-70CA-4D39-985B-BD83B146E035}"/>
              </a:ext>
            </a:extLst>
          </p:cNvPr>
          <p:cNvSpPr/>
          <p:nvPr/>
        </p:nvSpPr>
        <p:spPr>
          <a:xfrm>
            <a:off x="2843808" y="4168357"/>
            <a:ext cx="4392488" cy="1137043"/>
          </a:xfrm>
          <a:prstGeom prst="wedgeRoundRectCallout">
            <a:avLst>
              <a:gd name="adj1" fmla="val -67721"/>
              <a:gd name="adj2" fmla="val 1879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以上の情報を基に、</a:t>
            </a:r>
            <a:br>
              <a:rPr lang="en-US" altLang="ja-JP" sz="2000" b="1" dirty="0"/>
            </a:br>
            <a:r>
              <a:rPr lang="ja-JP" altLang="en-US" sz="2000" b="1" dirty="0"/>
              <a:t>まずは手軽なこの辺りから</a:t>
            </a:r>
            <a:br>
              <a:rPr lang="en-US" altLang="ja-JP" sz="2000" b="1" dirty="0"/>
            </a:br>
            <a:r>
              <a:rPr lang="ja-JP" altLang="en-US" sz="2000" b="1" dirty="0"/>
              <a:t>ライブラリ化を進めてみよう！</a:t>
            </a:r>
          </a:p>
        </p:txBody>
      </p:sp>
      <p:pic>
        <p:nvPicPr>
          <p:cNvPr id="4098" name="Picture 2" descr="やる気のある中学生・高校生のイラスト（女子）">
            <a:extLst>
              <a:ext uri="{FF2B5EF4-FFF2-40B4-BE49-F238E27FC236}">
                <a16:creationId xmlns:a16="http://schemas.microsoft.com/office/drawing/2014/main" id="{B004E24C-8CD2-43A3-B3C8-A21DC7F41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7" y="4239526"/>
            <a:ext cx="1944216" cy="2618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05838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12728</TotalTime>
  <Words>546</Words>
  <Application>Microsoft Office PowerPoint</Application>
  <PresentationFormat>画面に合わせる (4:3)</PresentationFormat>
  <Paragraphs>44</Paragraphs>
  <Slides>7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ＭＳ Ｐゴシック</vt:lpstr>
      <vt:lpstr>Arial</vt:lpstr>
      <vt:lpstr>Calibri</vt:lpstr>
      <vt:lpstr>標準デザイン</vt:lpstr>
      <vt:lpstr>この単元の目標</vt:lpstr>
      <vt:lpstr>1　計算周りのライブラリ整理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山本　隆行</cp:lastModifiedBy>
  <cp:revision>542</cp:revision>
  <dcterms:created xsi:type="dcterms:W3CDTF">2013-04-19T02:46:48Z</dcterms:created>
  <dcterms:modified xsi:type="dcterms:W3CDTF">2023-10-19T10:21:06Z</dcterms:modified>
</cp:coreProperties>
</file>